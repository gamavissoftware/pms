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4102cf1295453d" /><Relationship Type="http://schemas.openxmlformats.org/officeDocument/2006/relationships/extended-properties" Target="/docProps/app.xml" Id="R3d7c4a74b34345f4" /><Relationship Type="http://schemas.openxmlformats.org/officeDocument/2006/relationships/officeDocument" Target="/ppt/presentation.xml" Id="R44cc77c5c53049e9" /></Relationships>
</file>

<file path=ppt/presentation.xml><?xml version="1.0" encoding="utf-8"?>
<p:presentation xmlns:p="http://schemas.openxmlformats.org/presentationml/2006/main">
  <p:sldMasterIdLst>
    <p:sldMasterId xmlns:r="http://schemas.openxmlformats.org/officeDocument/2006/relationships" id="2147483648" r:id="R2c311e3a6d9e4933"/>
  </p:sldMasterIdLst>
  <p:notesMasterIdLst>
    <p:notesMasterId xmlns:r="http://schemas.openxmlformats.org/officeDocument/2006/relationships" r:id="R3a3587d412244832"/>
  </p:notesMasterIdLst>
  <p:sldIdLst>
    <p:sldId xmlns:r="http://schemas.openxmlformats.org/officeDocument/2006/relationships" id="256" r:id="R16ce9ad7a37a4875"/>
    <p:sldId xmlns:r="http://schemas.openxmlformats.org/officeDocument/2006/relationships" id="257" r:id="Rb632bb985b2a4ed9"/>
    <p:sldId xmlns:r="http://schemas.openxmlformats.org/officeDocument/2006/relationships" id="258" r:id="Re9d9ffcd859f4754"/>
    <p:sldId xmlns:r="http://schemas.openxmlformats.org/officeDocument/2006/relationships" id="259" r:id="R2196ac084e8b4f3f"/>
    <p:sldId xmlns:r="http://schemas.openxmlformats.org/officeDocument/2006/relationships" id="260" r:id="R33a7a259171a463a"/>
    <p:sldId xmlns:r="http://schemas.openxmlformats.org/officeDocument/2006/relationships" id="261" r:id="Rd9e64b1fbd6749c0"/>
    <p:sldId xmlns:r="http://schemas.openxmlformats.org/officeDocument/2006/relationships" id="262" r:id="R8f57749ae42c4b4d"/>
    <p:sldId xmlns:r="http://schemas.openxmlformats.org/officeDocument/2006/relationships" id="263" r:id="R30d6b995999e4099"/>
    <p:sldId xmlns:r="http://schemas.openxmlformats.org/officeDocument/2006/relationships" id="264" r:id="R4b04fd62daa34cdd"/>
    <p:sldId xmlns:r="http://schemas.openxmlformats.org/officeDocument/2006/relationships" id="265" r:id="R9c6256492e4f4029"/>
    <p:sldId xmlns:r="http://schemas.openxmlformats.org/officeDocument/2006/relationships" id="266" r:id="R1a26bb40c83c4fda"/>
    <p:sldId xmlns:r="http://schemas.openxmlformats.org/officeDocument/2006/relationships" id="267" r:id="R074aaa4741a6419f"/>
    <p:sldId xmlns:r="http://schemas.openxmlformats.org/officeDocument/2006/relationships" id="268" r:id="R83e7dd3135c5417d"/>
    <p:sldId xmlns:r="http://schemas.openxmlformats.org/officeDocument/2006/relationships" id="269" r:id="R1b38852c212c4777"/>
    <p:sldId xmlns:r="http://schemas.openxmlformats.org/officeDocument/2006/relationships" id="270" r:id="R5ff95edb388342e7"/>
    <p:sldId xmlns:r="http://schemas.openxmlformats.org/officeDocument/2006/relationships" id="271" r:id="Rcf11e281a14c4f2e"/>
    <p:sldId xmlns:r="http://schemas.openxmlformats.org/officeDocument/2006/relationships" id="272" r:id="Ra951b99aeca447db"/>
    <p:sldId xmlns:r="http://schemas.openxmlformats.org/officeDocument/2006/relationships" id="273" r:id="R0c83408655d74b7b"/>
    <p:sldId xmlns:r="http://schemas.openxmlformats.org/officeDocument/2006/relationships" id="274" r:id="R54cd7618e67649df"/>
    <p:sldId xmlns:r="http://schemas.openxmlformats.org/officeDocument/2006/relationships" id="275" r:id="Rf9a0efee74cb4ed5"/>
    <p:sldId xmlns:r="http://schemas.openxmlformats.org/officeDocument/2006/relationships" id="276" r:id="R5c99fe411cf4427d"/>
    <p:sldId xmlns:r="http://schemas.openxmlformats.org/officeDocument/2006/relationships" id="277" r:id="R4d7256c22e9649c7"/>
    <p:sldId xmlns:r="http://schemas.openxmlformats.org/officeDocument/2006/relationships" id="278" r:id="Rdcdc4490f3414c5d"/>
    <p:sldId xmlns:r="http://schemas.openxmlformats.org/officeDocument/2006/relationships" id="279" r:id="R789cc87051a2477f"/>
    <p:sldId xmlns:r="http://schemas.openxmlformats.org/officeDocument/2006/relationships" id="280" r:id="R61e5f8b73cc245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920e07149ca4650" /><Relationship Type="http://schemas.openxmlformats.org/officeDocument/2006/relationships/slideMaster" Target="/ppt/slideMasters/slideMaster1.xml" Id="R2c311e3a6d9e4933" /><Relationship Type="http://schemas.openxmlformats.org/officeDocument/2006/relationships/notesMaster" Target="/ppt/notesMasters/notesMaster1.xml" Id="R3a3587d412244832" /><Relationship Type="http://schemas.openxmlformats.org/officeDocument/2006/relationships/presProps" Target="/ppt/presProps.xml" Id="R7ea34814d1b74df3" /><Relationship Type="http://schemas.openxmlformats.org/officeDocument/2006/relationships/tableStyles" Target="/ppt/tableStyles.xml" Id="Re1ee3251a0484c52" /><Relationship Type="http://schemas.openxmlformats.org/officeDocument/2006/relationships/slide" Target="/ppt/slides/slide1.xml" Id="R16ce9ad7a37a4875" /><Relationship Type="http://schemas.openxmlformats.org/officeDocument/2006/relationships/slide" Target="/ppt/slides/slide2.xml" Id="Rb632bb985b2a4ed9" /><Relationship Type="http://schemas.openxmlformats.org/officeDocument/2006/relationships/slide" Target="/ppt/slides/slide3.xml" Id="Re9d9ffcd859f4754" /><Relationship Type="http://schemas.openxmlformats.org/officeDocument/2006/relationships/slide" Target="/ppt/slides/slide4.xml" Id="R2196ac084e8b4f3f" /><Relationship Type="http://schemas.openxmlformats.org/officeDocument/2006/relationships/slide" Target="/ppt/slides/slide5.xml" Id="R33a7a259171a463a" /><Relationship Type="http://schemas.openxmlformats.org/officeDocument/2006/relationships/slide" Target="/ppt/slides/slide6.xml" Id="Rd9e64b1fbd6749c0" /><Relationship Type="http://schemas.openxmlformats.org/officeDocument/2006/relationships/slide" Target="/ppt/slides/slide7.xml" Id="R8f57749ae42c4b4d" /><Relationship Type="http://schemas.openxmlformats.org/officeDocument/2006/relationships/slide" Target="/ppt/slides/slide8.xml" Id="R30d6b995999e4099" /><Relationship Type="http://schemas.openxmlformats.org/officeDocument/2006/relationships/slide" Target="/ppt/slides/slide9.xml" Id="R4b04fd62daa34cdd" /><Relationship Type="http://schemas.openxmlformats.org/officeDocument/2006/relationships/slide" Target="/ppt/slides/slide10.xml" Id="R9c6256492e4f4029" /><Relationship Type="http://schemas.openxmlformats.org/officeDocument/2006/relationships/slide" Target="/ppt/slides/slide11.xml" Id="R1a26bb40c83c4fda" /><Relationship Type="http://schemas.openxmlformats.org/officeDocument/2006/relationships/slide" Target="/ppt/slides/slide12.xml" Id="R074aaa4741a6419f" /><Relationship Type="http://schemas.openxmlformats.org/officeDocument/2006/relationships/slide" Target="/ppt/slides/slide13.xml" Id="R83e7dd3135c5417d" /><Relationship Type="http://schemas.openxmlformats.org/officeDocument/2006/relationships/slide" Target="/ppt/slides/slide14.xml" Id="R1b38852c212c4777" /><Relationship Type="http://schemas.openxmlformats.org/officeDocument/2006/relationships/slide" Target="/ppt/slides/slide15.xml" Id="R5ff95edb388342e7" /><Relationship Type="http://schemas.openxmlformats.org/officeDocument/2006/relationships/slide" Target="/ppt/slides/slide16.xml" Id="Rcf11e281a14c4f2e" /><Relationship Type="http://schemas.openxmlformats.org/officeDocument/2006/relationships/slide" Target="/ppt/slides/slide17.xml" Id="Ra951b99aeca447db" /><Relationship Type="http://schemas.openxmlformats.org/officeDocument/2006/relationships/slide" Target="/ppt/slides/slide18.xml" Id="R0c83408655d74b7b" /><Relationship Type="http://schemas.openxmlformats.org/officeDocument/2006/relationships/slide" Target="/ppt/slides/slide19.xml" Id="R54cd7618e67649df" /><Relationship Type="http://schemas.openxmlformats.org/officeDocument/2006/relationships/slide" Target="/ppt/slides/slide20.xml" Id="Rf9a0efee74cb4ed5" /><Relationship Type="http://schemas.openxmlformats.org/officeDocument/2006/relationships/slide" Target="/ppt/slides/slide21.xml" Id="R5c99fe411cf4427d" /><Relationship Type="http://schemas.openxmlformats.org/officeDocument/2006/relationships/slide" Target="/ppt/slides/slide22.xml" Id="R4d7256c22e9649c7" /><Relationship Type="http://schemas.openxmlformats.org/officeDocument/2006/relationships/slide" Target="/ppt/slides/slide23.xml" Id="Rdcdc4490f3414c5d" /><Relationship Type="http://schemas.openxmlformats.org/officeDocument/2006/relationships/slide" Target="/ppt/slides/slide24.xml" Id="R789cc87051a2477f" /><Relationship Type="http://schemas.openxmlformats.org/officeDocument/2006/relationships/slide" Target="/ppt/slides/slide25.xml" Id="R61e5f8b73cc245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a34cf64cbc41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25360599244436" /><Relationship Type="http://schemas.openxmlformats.org/officeDocument/2006/relationships/notesMaster" Target="/ppt/notesMasters/notesMaster1.xml" Id="R02faa7eb684649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0a07deacf84ac6" /><Relationship Type="http://schemas.openxmlformats.org/officeDocument/2006/relationships/notesMaster" Target="/ppt/notesMasters/notesMaster1.xml" Id="Rc8440e78e6e34e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1474bf0c584dd3" /><Relationship Type="http://schemas.openxmlformats.org/officeDocument/2006/relationships/notesMaster" Target="/ppt/notesMasters/notesMaster1.xml" Id="R02592ccea3dd48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bce857cff04838" /><Relationship Type="http://schemas.openxmlformats.org/officeDocument/2006/relationships/notesMaster" Target="/ppt/notesMasters/notesMaster1.xml" Id="Rf856e3ea110c40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65050bf12643b8" /><Relationship Type="http://schemas.openxmlformats.org/officeDocument/2006/relationships/notesMaster" Target="/ppt/notesMasters/notesMaster1.xml" Id="R25a4098ef1c742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400c8d97a64f60" /><Relationship Type="http://schemas.openxmlformats.org/officeDocument/2006/relationships/notesMaster" Target="/ppt/notesMasters/notesMaster1.xml" Id="Rf122b630585044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1e908084e64b54" /><Relationship Type="http://schemas.openxmlformats.org/officeDocument/2006/relationships/notesMaster" Target="/ppt/notesMasters/notesMaster1.xml" Id="Raf3f7d3a95a046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1e9d24509c4ec5" /><Relationship Type="http://schemas.openxmlformats.org/officeDocument/2006/relationships/notesMaster" Target="/ppt/notesMasters/notesMaster1.xml" Id="Rf55eaf9f5f194d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fd0a55fc984f4f" /><Relationship Type="http://schemas.openxmlformats.org/officeDocument/2006/relationships/notesMaster" Target="/ppt/notesMasters/notesMaster1.xml" Id="R0532d0bbffd945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1cb2091d74412f" /><Relationship Type="http://schemas.openxmlformats.org/officeDocument/2006/relationships/notesMaster" Target="/ppt/notesMasters/notesMaster1.xml" Id="Ra3ec159edba143b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61af20d44144a3" /><Relationship Type="http://schemas.openxmlformats.org/officeDocument/2006/relationships/notesMaster" Target="/ppt/notesMasters/notesMaster1.xml" Id="R21a882ff23d341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108b746b5846ba" /><Relationship Type="http://schemas.openxmlformats.org/officeDocument/2006/relationships/notesMaster" Target="/ppt/notesMasters/notesMaster1.xml" Id="R5492c04f808544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efcd13604d43bf" /><Relationship Type="http://schemas.openxmlformats.org/officeDocument/2006/relationships/notesMaster" Target="/ppt/notesMasters/notesMaster1.xml" Id="R10d31d11f4d747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668fccb8b748c9" /><Relationship Type="http://schemas.openxmlformats.org/officeDocument/2006/relationships/notesMaster" Target="/ppt/notesMasters/notesMaster1.xml" Id="Rea5e327d76e74d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78bde0350244ba" /><Relationship Type="http://schemas.openxmlformats.org/officeDocument/2006/relationships/notesMaster" Target="/ppt/notesMasters/notesMaster1.xml" Id="R5b345006f7e943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189c2cb5504e2e" /><Relationship Type="http://schemas.openxmlformats.org/officeDocument/2006/relationships/notesMaster" Target="/ppt/notesMasters/notesMaster1.xml" Id="R167e536063ee41b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96f640f3fc346b8" /><Relationship Type="http://schemas.openxmlformats.org/officeDocument/2006/relationships/notesMaster" Target="/ppt/notesMasters/notesMaster1.xml" Id="Rc30500e924e641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80a82a9cd1453d" /><Relationship Type="http://schemas.openxmlformats.org/officeDocument/2006/relationships/notesMaster" Target="/ppt/notesMasters/notesMaster1.xml" Id="R66e1b8a195f3479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0354b440cbf41a9" /><Relationship Type="http://schemas.openxmlformats.org/officeDocument/2006/relationships/notesMaster" Target="/ppt/notesMasters/notesMaster1.xml" Id="R9f4ab019e9064e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dc89904bca4c16" /><Relationship Type="http://schemas.openxmlformats.org/officeDocument/2006/relationships/notesMaster" Target="/ppt/notesMasters/notesMaster1.xml" Id="R00055ead542c43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2e2d61751e4133" /><Relationship Type="http://schemas.openxmlformats.org/officeDocument/2006/relationships/notesMaster" Target="/ppt/notesMasters/notesMaster1.xml" Id="R31e546173c5740e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33cf842b24400c" /><Relationship Type="http://schemas.openxmlformats.org/officeDocument/2006/relationships/notesMaster" Target="/ppt/notesMasters/notesMaster1.xml" Id="Rcb4a5186f7a848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e19180f69884361" /><Relationship Type="http://schemas.openxmlformats.org/officeDocument/2006/relationships/notesMaster" Target="/ppt/notesMasters/notesMaster1.xml" Id="Rb79f57c1c6614c0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4b41f1ae19e4e85" /><Relationship Type="http://schemas.openxmlformats.org/officeDocument/2006/relationships/notesMaster" Target="/ppt/notesMasters/notesMaster1.xml" Id="R8c072e3c0196466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065e7acec994214" /><Relationship Type="http://schemas.openxmlformats.org/officeDocument/2006/relationships/notesMaster" Target="/ppt/notesMasters/notesMaster1.xml" Id="R71c0ae0098024b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Presenter opening: We need a shared view of execution that tells us which work can start, which outputs we can trust and what threatens customer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Ask management for a bounded pilot and named owners. This proposal does not establish a development budget or committed delivery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These are user-reported concerns, not quantified findings from production telemetry. Explain that the current task delay metric can still be correct as date variance while being incomplete for accountability.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sources: application/controllers/Task.php:10957; Database/task_completion_control_001.sql; Database/assembly_line_progress_001.sql; Database/assembly_machine_sequence_001.sql. A focused code review establishes existence of these elements only. Deployment, use, coverage and integration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Explain the hierarchy: order, machine, work package or operation, tasks and material requirements. Keep standalone administrative tasks outside unnecessary manufacturing dependencies.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This comparison represents the reported operating problem and proposed controls. It is not a claim that all existing code lacks these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Reference: PMI Practice Standard for Scheduling, https://www.pmi.org/-/media/pmi/documents/public/pdf/certifications/practice-standard-scheduling.pdf . Dependencies, baseline comparison and critical-path principles inform the recommendation. No external benchmark or savings claim. Avoid one universal finish-to-start chain. Initial scope should use clear prerequisite rules and operation-level material gates. Validate workflow cycles and missing predecessors before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A PO is not receipt evidence. Receipt alone does not establish usability. Define inspection applicability by material class. Supplier promises and actual event timestamps are separate fields.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Logical eligibility and capacity scheduling are distinct. Display material-ready work separately from capacity-constrained work. Do not wait for every component of the whole machine when the current operation can safely proceed.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Illustrative scenario only. No actual material or order data. Calculate readiness from accepted, allocated quantities and valid revisions. Review substitutions through an authorized change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On hold represents an authorized suspension, distinct from a factual blocker. Keep transition timestamps. Reject invalid transitions. Reopening should re-evaluate affected successors and flag work already started.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Photos and remarks supplement evidence. They cannot replace quantity checks or quality acceptance. Define verifier roles and time limits so verification does not create a new bottleneck.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Reference: PMI Practice Standard for Scheduling, https://www.pmi.org/-/media/pmi/documents/public/pdf/certifications/practice-standard-scheduling.pdf . Dependencies, baseline comparison and critical-path principles inform the recommendation. No external benchmark or savings claim. Use working calendars, defined interval boundaries and event timestamps. Measure blocker intervals without counting overlapping time twice. Report cause categories separately from total elapsed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Illustrative calculation assumes consecutive working days, assembly starts the next day, no other blockers and no scheduling flexibility. Material readiness moves 3 working days. Assembly duration remains 2 working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Reference: PMI Practice Standard for Scheduling, https://www.pmi.org/-/media/pmi/documents/public/pdf/certifications/practice-standard-scheduling.pdf . Dependencies, baseline comparison and critical-path principles inform the recommendation. No external benchmark or savings claim. Use the preceding example. The critical path is the sequence that governs completion. Capacity, calendars and remaining work also affect the forecast. Do not infer order delay by summing overdue task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Reference: PMI Practice Standard for Scheduling, https://www.pmi.org/-/media/pmi/documents/public/pdf/certifications/practice-standard-scheduling.pdf . Dependencies, baseline comparison and critical-path principles inform the recommendation. No external benchmark or savings claim. Automatic date movement must not overwrite the original commitment. Show baseline, current forecast and actual dates together. Distinguish customer commitment changes from internal recovery 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Proposed cause categories: supplier delay, shortage, drawing clarification, inspection rejection, capacity constraint, customer change and execution issue. Assignment does not automatically establish fault. Require review of contested attribution.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Role assignments are proposed and require management confirmation. Where quality is a separate department, it owns inspection acceptance. Each gate should have one accountable role and a clear backup.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Proposed dashboard content, not a live dashboard or actual KPI result. Prioritize exceptions by delivery impact and age. Provide drill-down to order, operation, evidence and responsible resolver.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Choose a common cohort and measurement window. Define treatment of cancellations, approved date changes and multiple reopenings. Compare like machine families and order complexity. Report medians and upper-tail times when volumes permit.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Proposed design requires detailed discovery. Include permissions, immutable audit events, retry handling, stock reconciliation and revision control. Keep historical records intact. Do not claim the current system already has these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This is sequencing, not a committed schedule. Estimate effort, dependencies, cost and dates after discovery. Use a limited transition period and define which system owns each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Financial model, if required: avoided waiting hours times applicable avoidable cost per hour, plus coordination hours saved times loaded hourly cost, less implementation and ongoing cost. Do not equate all time saved with cash savings. Avoid double counting labor and waiting benefits.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Repository references: application/controllers/Task.php:10957 and :11666; Database/task_completion_control_001.sql; Database/assembly_line_progress_001.sql; Database/assembly_machine_sequence_001.sql. Scheduling source: Reference: PMI Practice Standard for Scheduling, https://www.pmi.org/-/media/pmi/documents/public/pdf/certifications/practice-standard-scheduling.pdf . Dependencies, baseline comparison and critical-path principles inform the recommendation. No external benchmark or savings claim. All numerical examples are illustrative. This presentation is a proposal based on a focused review, not a production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PMS owner description in this conversation, 9 September 2026. Proposed future state unless explicitly stated otherwise. Close by asking management to approve the pilot scope, name the sponsor and process owners, authorize discovery to establish effort and cost, and set a review gate before wider rollout. Do not imply approval has already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81a97064924e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d91d842d7f4600" /><Relationship Type="http://schemas.openxmlformats.org/officeDocument/2006/relationships/slideLayout" Target="/ppt/slideLayouts/slideLayout1.xml" Id="Rd55ef0ccdfe041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5ef0ccdfe041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c9609f973e48a3" /><Relationship Type="http://schemas.openxmlformats.org/officeDocument/2006/relationships/notesSlide" Target="/ppt/notesSlides/notesSlide1.xml" Id="R1d5b82cbc08b40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773fdef3465406e" /><Relationship Type="http://schemas.openxmlformats.org/officeDocument/2006/relationships/notesSlide" Target="/ppt/notesSlides/notesSlide2.xml" Id="R741a14b8a93e4f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2f7142a0924a48" /><Relationship Type="http://schemas.openxmlformats.org/officeDocument/2006/relationships/notesSlide" Target="/ppt/notesSlides/notesSlide3.xml" Id="Rd838421584ba44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628763e1ba470f" /><Relationship Type="http://schemas.openxmlformats.org/officeDocument/2006/relationships/notesSlide" Target="/ppt/notesSlides/notesSlide4.xml" Id="Re58571e738d042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4593b215ed4687" /><Relationship Type="http://schemas.openxmlformats.org/officeDocument/2006/relationships/notesSlide" Target="/ppt/notesSlides/notesSlide5.xml" Id="R980fb017c5a24a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577528435841fb" /><Relationship Type="http://schemas.openxmlformats.org/officeDocument/2006/relationships/notesSlide" Target="/ppt/notesSlides/notesSlide6.xml" Id="R05454cfe0adc4f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6867d64da04538" /><Relationship Type="http://schemas.openxmlformats.org/officeDocument/2006/relationships/notesSlide" Target="/ppt/notesSlides/notesSlide7.xml" Id="R047e9910727e43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8ffd88028746f2" /><Relationship Type="http://schemas.openxmlformats.org/officeDocument/2006/relationships/notesSlide" Target="/ppt/notesSlides/notesSlide8.xml" Id="Rc72d6111ec9645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92a99d453a4ca0" /><Relationship Type="http://schemas.openxmlformats.org/officeDocument/2006/relationships/notesSlide" Target="/ppt/notesSlides/notesSlide9.xml" Id="R1ce551fc4b234e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22776c73a34ed6" /><Relationship Type="http://schemas.openxmlformats.org/officeDocument/2006/relationships/notesSlide" Target="/ppt/notesSlides/notesSlide10.xml" Id="R1962d8ae4ff146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e033a490a2444f" /><Relationship Type="http://schemas.openxmlformats.org/officeDocument/2006/relationships/notesSlide" Target="/ppt/notesSlides/notesSlide11.xml" Id="R597fd2109a804e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473ebb27de4530" /><Relationship Type="http://schemas.openxmlformats.org/officeDocument/2006/relationships/notesSlide" Target="/ppt/notesSlides/notesSlide12.xml" Id="Rd01f88e6dd5d42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16cbfa5ebe74e69" /><Relationship Type="http://schemas.openxmlformats.org/officeDocument/2006/relationships/notesSlide" Target="/ppt/notesSlides/notesSlide13.xml" Id="Refba36707e4e46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a8c4fa9c8464742" /><Relationship Type="http://schemas.openxmlformats.org/officeDocument/2006/relationships/notesSlide" Target="/ppt/notesSlides/notesSlide14.xml" Id="R563cc300816b4b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51cd2417f634fc1" /><Relationship Type="http://schemas.openxmlformats.org/officeDocument/2006/relationships/notesSlide" Target="/ppt/notesSlides/notesSlide15.xml" Id="Ref375c94beca47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5f8f6b11ea54f42" /><Relationship Type="http://schemas.openxmlformats.org/officeDocument/2006/relationships/notesSlide" Target="/ppt/notesSlides/notesSlide16.xml" Id="R1597af2f1d4d4f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48ab24d919c4d14" /><Relationship Type="http://schemas.openxmlformats.org/officeDocument/2006/relationships/notesSlide" Target="/ppt/notesSlides/notesSlide17.xml" Id="R56daaab5cdec492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0f2ace9a342402c" /><Relationship Type="http://schemas.openxmlformats.org/officeDocument/2006/relationships/notesSlide" Target="/ppt/notesSlides/notesSlide18.xml" Id="Rb04dc633848e48a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37411f995204026" /><Relationship Type="http://schemas.openxmlformats.org/officeDocument/2006/relationships/notesSlide" Target="/ppt/notesSlides/notesSlide19.xml" Id="Rbe443bd006584bc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ba4957d03ea4f49" /><Relationship Type="http://schemas.openxmlformats.org/officeDocument/2006/relationships/notesSlide" Target="/ppt/notesSlides/notesSlide20.xml" Id="R12e2bbf8bd5f4f8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700049b38a54797" /><Relationship Type="http://schemas.openxmlformats.org/officeDocument/2006/relationships/notesSlide" Target="/ppt/notesSlides/notesSlide21.xml" Id="R3986d15a59a84d1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77a8d86ea854b61" /><Relationship Type="http://schemas.openxmlformats.org/officeDocument/2006/relationships/notesSlide" Target="/ppt/notesSlides/notesSlide22.xml" Id="R77b57e5df598490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f2b3bbf81ec4bb4" /><Relationship Type="http://schemas.openxmlformats.org/officeDocument/2006/relationships/notesSlide" Target="/ppt/notesSlides/notesSlide23.xml" Id="Rfd67d327b4c044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4423a3aa5e34207" /><Relationship Type="http://schemas.openxmlformats.org/officeDocument/2006/relationships/notesSlide" Target="/ppt/notesSlides/notesSlide24.xml" Id="R66105e9d148f4c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0e47197a5984b10" /><Relationship Type="http://schemas.openxmlformats.org/officeDocument/2006/relationships/notesSlide" Target="/ppt/notesSlides/notesSlide25.xml" Id="R46b7bc3aafbf4d09" /></Relationships>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FD6A8E-BEC2-4427-B283-1D0151F12521}"/>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PMS 2.0</a:t>
            </a:r>
          </a:p>
        </p:txBody>
      </p:sp>
      <p:sp>
        <p:nvSpPr>
          <p:cNvPr id="2" name="">
            <a:extLst xmlns:a="http://schemas.openxmlformats.org/drawingml/2006/main">
              <a:ext uri="{FF2B5EF4-FFF2-40B4-BE49-F238E27FC236}">
                <a16:creationId xmlns:a16="http://schemas.microsoft.com/office/drawing/2014/main" id="{F27CB978-FB23-422C-877C-179DBFB733D7}"/>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FC5CF"/>
                </a:solidFill>
                <a:latin typeface="Helvetica Neue"/>
                <a:ea typeface="Helvetica Neue"/>
                <a:cs typeface="Helvetica Neue"/>
              </a:defRPr>
            </a:pPr>
            <a:r>
              <a:rPr sz="1275" b="0">
                <a:solidFill>
                  <a:srgbClr val="AFC5CF"/>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F9814D28-7BA0-4F6C-808C-F8EBBDE137B4}"/>
              </a:ext>
            </a:extLst>
          </p:cNvPr>
          <p:cNvSpPr>
            <a:spLocks xmlns:a="http://schemas.openxmlformats.org/drawingml/2006/main" noGrp="1"/>
          </p:cNvSpPr>
          <p:nvPr/>
        </p:nvSpPr>
        <p:spPr>
          <a:xfrm xmlns:a="http://schemas.openxmlformats.org/drawingml/2006/main">
            <a:off x="666750" y="2400300"/>
            <a:ext cx="1038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Connected work. Verified completion.</a:t>
            </a:r>
          </a:p>
        </p:txBody>
      </p:sp>
      <p:sp>
        <p:nvSpPr>
          <p:cNvPr id="4" name="">
            <a:extLst xmlns:a="http://schemas.openxmlformats.org/drawingml/2006/main">
              <a:ext uri="{FF2B5EF4-FFF2-40B4-BE49-F238E27FC236}">
                <a16:creationId xmlns:a16="http://schemas.microsoft.com/office/drawing/2014/main" id="{8460ED0B-5B47-4A3A-A7BA-C3F916C54ACE}"/>
              </a:ext>
            </a:extLst>
          </p:cNvPr>
          <p:cNvSpPr>
            <a:spLocks xmlns:a="http://schemas.openxmlformats.org/drawingml/2006/main" noGrp="1"/>
          </p:cNvSpPr>
          <p:nvPr/>
        </p:nvSpPr>
        <p:spPr>
          <a:xfrm xmlns:a="http://schemas.openxmlformats.org/drawingml/2006/main">
            <a:off x="666750" y="34290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C4D7DF"/>
                </a:solidFill>
                <a:latin typeface="Helvetica Neue"/>
                <a:ea typeface="Helvetica Neue"/>
                <a:cs typeface="Helvetica Neue"/>
              </a:defRPr>
            </a:pPr>
            <a:r>
              <a:rPr sz="2250" b="0">
                <a:solidFill>
                  <a:srgbClr val="C4D7DF"/>
                </a:solidFill>
                <a:latin typeface="Helvetica Neue"/>
                <a:ea typeface="Helvetica Neue"/>
                <a:cs typeface="Helvetica Neue"/>
              </a:rPr>
              <a:t>Task management enhancement proposal</a:t>
            </a:r>
          </a:p>
        </p:txBody>
      </p:sp>
      <p:sp>
        <p:nvSpPr>
          <p:cNvPr id="5" name="">
            <a:extLst xmlns:a="http://schemas.openxmlformats.org/drawingml/2006/main">
              <a:ext uri="{FF2B5EF4-FFF2-40B4-BE49-F238E27FC236}">
                <a16:creationId xmlns:a16="http://schemas.microsoft.com/office/drawing/2014/main" id="{6B722D76-4A33-4B24-9AE7-F8433433B40E}"/>
              </a:ext>
            </a:extLst>
          </p:cNvPr>
          <p:cNvSpPr>
            <a:spLocks xmlns:a="http://schemas.openxmlformats.org/drawingml/2006/main" noGrp="1"/>
          </p:cNvSpPr>
          <p:nvPr/>
        </p:nvSpPr>
        <p:spPr>
          <a:xfrm xmlns:a="http://schemas.openxmlformats.org/drawingml/2006/main">
            <a:off x="666750" y="5000625"/>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4D7DF"/>
                </a:solidFill>
                <a:latin typeface="Helvetica Neue"/>
                <a:ea typeface="Helvetica Neue"/>
                <a:cs typeface="Helvetica Neue"/>
              </a:defRPr>
            </a:pPr>
            <a:r>
              <a:rPr sz="1800" b="0">
                <a:solidFill>
                  <a:srgbClr val="C4D7DF"/>
                </a:solidFill>
                <a:latin typeface="Helvetica Neue"/>
                <a:ea typeface="Helvetica Neue"/>
                <a:cs typeface="Helvetica Neue"/>
              </a:rPr>
              <a:t>Management discussion</a:t>
            </a:r>
          </a:p>
          <a:p xmlns:a="http://schemas.openxmlformats.org/drawingml/2006/main">
            <a:pPr>
              <a:defRPr sz="1800" b="0">
                <a:solidFill>
                  <a:srgbClr val="C4D7DF"/>
                </a:solidFill>
                <a:latin typeface="Helvetica Neue"/>
                <a:ea typeface="Helvetica Neue"/>
                <a:cs typeface="Helvetica Neue"/>
              </a:defRPr>
            </a:pPr>
            <a:r>
              <a:rPr sz="1800" b="0">
                <a:solidFill>
                  <a:srgbClr val="C4D7DF"/>
                </a:solidFill>
                <a:latin typeface="Helvetica Neue"/>
                <a:ea typeface="Helvetica Neue"/>
                <a:cs typeface="Helvetica Neue"/>
              </a:rPr>
              <a:t>9 September 2026</a:t>
            </a:r>
          </a:p>
        </p:txBody>
      </p:sp>
    </p:spTree>
    <p:extLst>
      <p:ext uri="{BB962C8B-B14F-4D97-AF65-F5344CB8AC3E}">
        <p14:creationId xmlns:p14="http://schemas.microsoft.com/office/powerpoint/2010/main" val="271457742"/>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E82D66-AE9C-4CF0-B5DD-90DBF8AD19D6}"/>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Management decision</a:t>
            </a:r>
          </a:p>
        </p:txBody>
      </p:sp>
      <p:sp>
        <p:nvSpPr>
          <p:cNvPr id="2" name="">
            <a:extLst xmlns:a="http://schemas.openxmlformats.org/drawingml/2006/main">
              <a:ext uri="{FF2B5EF4-FFF2-40B4-BE49-F238E27FC236}">
                <a16:creationId xmlns:a16="http://schemas.microsoft.com/office/drawing/2014/main" id="{EE29179F-0221-4E46-83F9-A4BECE43FB8A}"/>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044784C0-C377-49F2-99BE-DEE3CC7E5561}"/>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Approve a pilot</a:t>
            </a:r>
          </a:p>
        </p:txBody>
      </p:sp>
      <p:sp>
        <p:nvSpPr>
          <p:cNvPr id="4" name="">
            <a:extLst xmlns:a="http://schemas.openxmlformats.org/drawingml/2006/main">
              <a:ext uri="{FF2B5EF4-FFF2-40B4-BE49-F238E27FC236}">
                <a16:creationId xmlns:a16="http://schemas.microsoft.com/office/drawing/2014/main" id="{548FA002-ED82-47D5-A071-10AFCBF787AD}"/>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Test connected handoffs for one machine family across purchases, stores and assembly.</a:t>
            </a:r>
          </a:p>
        </p:txBody>
      </p:sp>
      <p:sp>
        <p:nvSpPr>
          <p:cNvPr id="5" name="">
            <a:extLst xmlns:a="http://schemas.openxmlformats.org/drawingml/2006/main">
              <a:ext uri="{FF2B5EF4-FFF2-40B4-BE49-F238E27FC236}">
                <a16:creationId xmlns:a16="http://schemas.microsoft.com/office/drawing/2014/main" id="{912EDEDD-FA80-4C6E-AB0C-8925596BB086}"/>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Assign process owners</a:t>
            </a:r>
          </a:p>
        </p:txBody>
      </p:sp>
      <p:sp>
        <p:nvSpPr>
          <p:cNvPr id="6" name="">
            <a:extLst xmlns:a="http://schemas.openxmlformats.org/drawingml/2006/main">
              <a:ext uri="{FF2B5EF4-FFF2-40B4-BE49-F238E27FC236}">
                <a16:creationId xmlns:a16="http://schemas.microsoft.com/office/drawing/2014/main" id="{DFDD5C2B-2470-4FE4-B265-0394AE7AB8FB}"/>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Agree readiness rules, completion evidence and escalation responsibilities.</a:t>
            </a:r>
          </a:p>
        </p:txBody>
      </p:sp>
      <p:sp>
        <p:nvSpPr>
          <p:cNvPr id="7" name="">
            <a:extLst xmlns:a="http://schemas.openxmlformats.org/drawingml/2006/main">
              <a:ext uri="{FF2B5EF4-FFF2-40B4-BE49-F238E27FC236}">
                <a16:creationId xmlns:a16="http://schemas.microsoft.com/office/drawing/2014/main" id="{11E0C30F-788E-4730-8AE0-14F0ECF2FA46}"/>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Release funding in stages</a:t>
            </a:r>
          </a:p>
        </p:txBody>
      </p:sp>
      <p:sp>
        <p:nvSpPr>
          <p:cNvPr id="8" name="">
            <a:extLst xmlns:a="http://schemas.openxmlformats.org/drawingml/2006/main">
              <a:ext uri="{FF2B5EF4-FFF2-40B4-BE49-F238E27FC236}">
                <a16:creationId xmlns:a16="http://schemas.microsoft.com/office/drawing/2014/main" id="{D94BAF91-029B-43B4-9980-7947391941A4}"/>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Confirm scope and cost after workflow mapping, then expand only on pilot evidence.</a:t>
            </a:r>
          </a:p>
        </p:txBody>
      </p:sp>
    </p:spTree>
    <p:extLst>
      <p:ext uri="{BB962C8B-B14F-4D97-AF65-F5344CB8AC3E}">
        <p14:creationId xmlns:p14="http://schemas.microsoft.com/office/powerpoint/2010/main" val="473470245"/>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468BD3-E974-4B72-8A6C-C1A38F95E08C}"/>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The current reporting gap</a:t>
            </a:r>
          </a:p>
        </p:txBody>
      </p:sp>
      <p:sp>
        <p:nvSpPr>
          <p:cNvPr id="2" name="">
            <a:extLst xmlns:a="http://schemas.openxmlformats.org/drawingml/2006/main">
              <a:ext uri="{FF2B5EF4-FFF2-40B4-BE49-F238E27FC236}">
                <a16:creationId xmlns:a16="http://schemas.microsoft.com/office/drawing/2014/main" id="{4B0E6732-E3E4-452D-873F-451BD44192D0}"/>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C630AF5B-CF8F-410C-908D-5A9226CE4636}"/>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Isolated tasks</a:t>
            </a:r>
          </a:p>
        </p:txBody>
      </p:sp>
      <p:sp>
        <p:nvSpPr>
          <p:cNvPr id="4" name="">
            <a:extLst xmlns:a="http://schemas.openxmlformats.org/drawingml/2006/main">
              <a:ext uri="{FF2B5EF4-FFF2-40B4-BE49-F238E27FC236}">
                <a16:creationId xmlns:a16="http://schemas.microsoft.com/office/drawing/2014/main" id="{050C04B7-61DC-4ABE-BE6C-2C12229532AB}"/>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Departments work independently, according to the operational concern raised.</a:t>
            </a:r>
          </a:p>
        </p:txBody>
      </p:sp>
      <p:sp>
        <p:nvSpPr>
          <p:cNvPr id="5" name="">
            <a:extLst xmlns:a="http://schemas.openxmlformats.org/drawingml/2006/main">
              <a:ext uri="{FF2B5EF4-FFF2-40B4-BE49-F238E27FC236}">
                <a16:creationId xmlns:a16="http://schemas.microsoft.com/office/drawing/2014/main" id="{CE9D0C72-62EA-45C7-9E73-89D79A20C1DE}"/>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Unclear causes</a:t>
            </a:r>
          </a:p>
        </p:txBody>
      </p:sp>
      <p:sp>
        <p:nvSpPr>
          <p:cNvPr id="6" name="">
            <a:extLst xmlns:a="http://schemas.openxmlformats.org/drawingml/2006/main">
              <a:ext uri="{FF2B5EF4-FFF2-40B4-BE49-F238E27FC236}">
                <a16:creationId xmlns:a16="http://schemas.microsoft.com/office/drawing/2014/main" id="{E4F99595-92AC-42FC-A700-901E0D8BEBD9}"/>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 missed task date does not identify dependency waiting or execution overrun.</a:t>
            </a:r>
          </a:p>
        </p:txBody>
      </p:sp>
      <p:sp>
        <p:nvSpPr>
          <p:cNvPr id="7" name="">
            <a:extLst xmlns:a="http://schemas.openxmlformats.org/drawingml/2006/main">
              <a:ext uri="{FF2B5EF4-FFF2-40B4-BE49-F238E27FC236}">
                <a16:creationId xmlns:a16="http://schemas.microsoft.com/office/drawing/2014/main" id="{91F33EF9-595E-4791-8297-0C9C92528414}"/>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Uncertain completion</a:t>
            </a:r>
          </a:p>
        </p:txBody>
      </p:sp>
      <p:sp>
        <p:nvSpPr>
          <p:cNvPr id="8" name="">
            <a:extLst xmlns:a="http://schemas.openxmlformats.org/drawingml/2006/main">
              <a:ext uri="{FF2B5EF4-FFF2-40B4-BE49-F238E27FC236}">
                <a16:creationId xmlns:a16="http://schemas.microsoft.com/office/drawing/2014/main" id="{488E48E9-5300-499F-BD87-970102EF1246}"/>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 status update may not prove that the next department can proceed.</a:t>
            </a:r>
          </a:p>
        </p:txBody>
      </p:sp>
    </p:spTree>
    <p:extLst>
      <p:ext uri="{BB962C8B-B14F-4D97-AF65-F5344CB8AC3E}">
        <p14:creationId xmlns:p14="http://schemas.microsoft.com/office/powerpoint/2010/main" val="1698499025"/>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EDA47D-392D-42DB-888F-4188267D25C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Existing code provides useful foundations</a:t>
            </a:r>
          </a:p>
        </p:txBody>
      </p:sp>
      <p:sp>
        <p:nvSpPr>
          <p:cNvPr id="2" name="">
            <a:extLst xmlns:a="http://schemas.openxmlformats.org/drawingml/2006/main">
              <a:ext uri="{FF2B5EF4-FFF2-40B4-BE49-F238E27FC236}">
                <a16:creationId xmlns:a16="http://schemas.microsoft.com/office/drawing/2014/main" id="{D77C259F-28D9-47A1-95AF-B452F9D15336}"/>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04</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2190750"/>
                <a:gridCol w="3905250"/>
                <a:gridCol w="4838700"/>
              </a:tblGrid>
              <a:tr h="928688">
                <a:tc>
                  <a:txBody>
                    <a:bodyPr/>
                    <a:lstStyle/>
                    <a:p>
                      <a:r>
                        <a:rPr sz="1725" b="1">
                          <a:solidFill>
                            <a:srgbClr val="FFFFFF"/>
                          </a:solidFill>
                          <a:latin typeface="Helvetica Neue"/>
                          <a:ea typeface="Helvetica Neue"/>
                          <a:cs typeface="Helvetica Neue"/>
                        </a:rPr>
                        <a:t>Area</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Observed in repository</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PMS 2.0 direction</a:t>
                      </a:r>
                    </a:p>
                  </a:txBody>
                  <a:tcPr marL="91440" marR="91440" marT="45720" marB="45720">
                    <a:solidFill>
                      <a:srgbClr val="112B3C"/>
                    </a:solidFill>
                  </a:tcPr>
                </a:tc>
              </a:tr>
              <a:tr h="928688">
                <a:tc>
                  <a:txBody>
                    <a:bodyPr/>
                    <a:lstStyle/>
                    <a:p>
                      <a:r>
                        <a:rPr sz="1650" b="0">
                          <a:solidFill>
                            <a:srgbClr val="183648"/>
                          </a:solidFill>
                          <a:latin typeface="Helvetica Neue"/>
                          <a:ea typeface="Helvetica Neue"/>
                          <a:cs typeface="Helvetica Neue"/>
                        </a:rPr>
                        <a:t>Scheduling</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Predecessor-based date logic</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Validate actual readiness across departments</a:t>
                      </a:r>
                    </a:p>
                  </a:txBody>
                  <a:tcPr marL="91440" marR="91440" marT="45720" marB="45720">
                    <a:solidFill>
                      <a:srgbClr val="FFFFFF"/>
                    </a:solidFill>
                  </a:tcPr>
                </a:tc>
              </a:tr>
              <a:tr h="928688">
                <a:tc>
                  <a:txBody>
                    <a:bodyPr/>
                    <a:lstStyle/>
                    <a:p>
                      <a:r>
                        <a:rPr sz="1650" b="0">
                          <a:solidFill>
                            <a:srgbClr val="183648"/>
                          </a:solidFill>
                          <a:latin typeface="Helvetica Neue"/>
                          <a:ea typeface="Helvetica Neue"/>
                          <a:cs typeface="Helvetica Neue"/>
                        </a:rPr>
                        <a:t>Completion</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History of completion changes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Define evidence and acceptance rules</a:t>
                      </a:r>
                    </a:p>
                  </a:txBody>
                  <a:tcPr marL="91440" marR="91440" marT="45720" marB="45720">
                    <a:solidFill>
                      <a:srgbClr val="EEF3F5"/>
                    </a:solidFill>
                  </a:tcPr>
                </a:tc>
              </a:tr>
              <a:tr h="928688">
                <a:tc>
                  <a:txBody>
                    <a:bodyPr/>
                    <a:lstStyle/>
                    <a:p>
                      <a:r>
                        <a:rPr sz="1650" b="0">
                          <a:solidFill>
                            <a:srgbClr val="183648"/>
                          </a:solidFill>
                          <a:latin typeface="Helvetica Neue"/>
                          <a:ea typeface="Helvetica Neue"/>
                          <a:cs typeface="Helvetica Neue"/>
                        </a:rPr>
                        <a:t>Assembly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Progress and sequence records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Link operations to material readiness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C9EC965-A87F-4DE2-865A-86423528A641}"/>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Code evidence does not establish live deployment or consistent adoption.</a:t>
            </a:r>
          </a:p>
        </p:txBody>
      </p:sp>
    </p:spTree>
    <p:extLst>
      <p:ext uri="{BB962C8B-B14F-4D97-AF65-F5344CB8AC3E}">
        <p14:creationId xmlns:p14="http://schemas.microsoft.com/office/powerpoint/2010/main" val="1708983096"/>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1FE692-CFB1-448B-8432-1BB176DE4C1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One shared plan for each order</a:t>
            </a:r>
          </a:p>
        </p:txBody>
      </p:sp>
      <p:sp>
        <p:nvSpPr>
          <p:cNvPr id="2" name="">
            <a:extLst xmlns:a="http://schemas.openxmlformats.org/drawingml/2006/main">
              <a:ext uri="{FF2B5EF4-FFF2-40B4-BE49-F238E27FC236}">
                <a16:creationId xmlns:a16="http://schemas.microsoft.com/office/drawing/2014/main" id="{94E1D7A8-B0D5-49C9-835F-EDA57DF0A22A}"/>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FF00C4F-9641-4198-B837-27B5CB100CE3}"/>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Order and machine</a:t>
            </a:r>
          </a:p>
        </p:txBody>
      </p:sp>
      <p:sp>
        <p:nvSpPr>
          <p:cNvPr id="4" name="">
            <a:extLst xmlns:a="http://schemas.openxmlformats.org/drawingml/2006/main">
              <a:ext uri="{FF2B5EF4-FFF2-40B4-BE49-F238E27FC236}">
                <a16:creationId xmlns:a16="http://schemas.microsoft.com/office/drawing/2014/main" id="{EA680187-BEE9-4B93-8FF7-D722A9CC7E73}"/>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Delivery commitment, accountable coordinator and forecast completion.</a:t>
            </a:r>
          </a:p>
        </p:txBody>
      </p:sp>
      <p:sp>
        <p:nvSpPr>
          <p:cNvPr id="5" name="">
            <a:extLst xmlns:a="http://schemas.openxmlformats.org/drawingml/2006/main">
              <a:ext uri="{FF2B5EF4-FFF2-40B4-BE49-F238E27FC236}">
                <a16:creationId xmlns:a16="http://schemas.microsoft.com/office/drawing/2014/main" id="{03811828-CF2D-426D-8633-F25E2E5808E6}"/>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Operations and material</a:t>
            </a:r>
          </a:p>
        </p:txBody>
      </p:sp>
      <p:sp>
        <p:nvSpPr>
          <p:cNvPr id="6" name="">
            <a:extLst xmlns:a="http://schemas.openxmlformats.org/drawingml/2006/main">
              <a:ext uri="{FF2B5EF4-FFF2-40B4-BE49-F238E27FC236}">
                <a16:creationId xmlns:a16="http://schemas.microsoft.com/office/drawing/2014/main" id="{04D2C9F3-436E-4484-BE58-684319B9A218}"/>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Work packages linked to the applicable BOM revision and material quantities.</a:t>
            </a:r>
          </a:p>
        </p:txBody>
      </p:sp>
      <p:sp>
        <p:nvSpPr>
          <p:cNvPr id="7" name="">
            <a:extLst xmlns:a="http://schemas.openxmlformats.org/drawingml/2006/main">
              <a:ext uri="{FF2B5EF4-FFF2-40B4-BE49-F238E27FC236}">
                <a16:creationId xmlns:a16="http://schemas.microsoft.com/office/drawing/2014/main" id="{076396D8-6911-4373-9FA1-A5DD6F7A892E}"/>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Department actions</a:t>
            </a:r>
          </a:p>
        </p:txBody>
      </p:sp>
      <p:sp>
        <p:nvSpPr>
          <p:cNvPr id="8" name="">
            <a:extLst xmlns:a="http://schemas.openxmlformats.org/drawingml/2006/main">
              <a:ext uri="{FF2B5EF4-FFF2-40B4-BE49-F238E27FC236}">
                <a16:creationId xmlns:a16="http://schemas.microsoft.com/office/drawing/2014/main" id="{2EF4C809-3E19-4719-9C0B-23CAD9D4FDAD}"/>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Each task has an owner, prerequisites and an accepted output.</a:t>
            </a:r>
          </a:p>
        </p:txBody>
      </p:sp>
    </p:spTree>
    <p:extLst>
      <p:ext uri="{BB962C8B-B14F-4D97-AF65-F5344CB8AC3E}">
        <p14:creationId xmlns:p14="http://schemas.microsoft.com/office/powerpoint/2010/main" val="280727072"/>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7F0CB61-180B-42AC-8E10-685180A51A1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The operating model changes at each handoff</a:t>
            </a:r>
          </a:p>
        </p:txBody>
      </p:sp>
      <p:sp>
        <p:nvSpPr>
          <p:cNvPr id="2" name="">
            <a:extLst xmlns:a="http://schemas.openxmlformats.org/drawingml/2006/main">
              <a:ext uri="{FF2B5EF4-FFF2-40B4-BE49-F238E27FC236}">
                <a16:creationId xmlns:a16="http://schemas.microsoft.com/office/drawing/2014/main" id="{2B61C6DF-EFB9-4D43-8868-DECA24C928DA}"/>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06</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4476750"/>
                <a:gridCol w="6457950"/>
              </a:tblGrid>
              <a:tr h="742950">
                <a:tc>
                  <a:txBody>
                    <a:bodyPr/>
                    <a:lstStyle/>
                    <a:p>
                      <a:r>
                        <a:rPr sz="1725" b="1">
                          <a:solidFill>
                            <a:srgbClr val="FFFFFF"/>
                          </a:solidFill>
                          <a:latin typeface="Helvetica Neue"/>
                          <a:ea typeface="Helvetica Neue"/>
                          <a:cs typeface="Helvetica Neue"/>
                        </a:rPr>
                        <a:t>Today: reported concern</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Proposed PMS 2.0 behavior</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Tasks progress independently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Readiness reflects actual prerequisites</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Task date drives delay reporting</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Separate waiting, execution and delivery variance</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Users mark completion</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Transactions and acceptance establish completion</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Departments follow separate lists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One order plan shows the next responsible action</a:t>
                      </a:r>
                    </a:p>
                  </a:txBody>
                  <a:tcPr marL="91440" marR="91440" marT="45720" marB="45720">
                    <a:solidFill>
                      <a:srgbClr val="EEF3F5"/>
                    </a:solidFill>
                  </a:tcPr>
                </a:tc>
              </a:tr>
            </a:tbl>
          </a:graphicData>
        </a:graphic>
      </p:graphicFrame>
    </p:spTree>
    <p:extLst>
      <p:ext uri="{BB962C8B-B14F-4D97-AF65-F5344CB8AC3E}">
        <p14:creationId xmlns:p14="http://schemas.microsoft.com/office/powerpoint/2010/main" val="1946323457"/>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F7EE780-DDC3-4122-836C-AF4D76AF91B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Dependencies follow the real process</a:t>
            </a:r>
          </a:p>
        </p:txBody>
      </p:sp>
      <p:sp>
        <p:nvSpPr>
          <p:cNvPr id="2" name="">
            <a:extLst xmlns:a="http://schemas.openxmlformats.org/drawingml/2006/main">
              <a:ext uri="{FF2B5EF4-FFF2-40B4-BE49-F238E27FC236}">
                <a16:creationId xmlns:a16="http://schemas.microsoft.com/office/drawing/2014/main" id="{81EB4B0F-1442-456E-A8D3-5435B70F878C}"/>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86F39064-B69A-43DC-AE60-187C26857C1F}"/>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Sequential work</a:t>
            </a:r>
          </a:p>
        </p:txBody>
      </p:sp>
      <p:sp>
        <p:nvSpPr>
          <p:cNvPr id="4" name="">
            <a:extLst xmlns:a="http://schemas.openxmlformats.org/drawingml/2006/main">
              <a:ext uri="{FF2B5EF4-FFF2-40B4-BE49-F238E27FC236}">
                <a16:creationId xmlns:a16="http://schemas.microsoft.com/office/drawing/2014/main" id="{C60ABBF7-3591-4847-BE21-C997FF5B66A4}"/>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An operation waits for the accepted output of its predecessor.</a:t>
            </a:r>
          </a:p>
        </p:txBody>
      </p:sp>
      <p:sp>
        <p:nvSpPr>
          <p:cNvPr id="5" name="">
            <a:extLst xmlns:a="http://schemas.openxmlformats.org/drawingml/2006/main">
              <a:ext uri="{FF2B5EF4-FFF2-40B4-BE49-F238E27FC236}">
                <a16:creationId xmlns:a16="http://schemas.microsoft.com/office/drawing/2014/main" id="{301E9A12-6E2B-4C81-8130-9FB2E46DCFAC}"/>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Parallel work</a:t>
            </a:r>
          </a:p>
        </p:txBody>
      </p:sp>
      <p:sp>
        <p:nvSpPr>
          <p:cNvPr id="6" name="">
            <a:extLst xmlns:a="http://schemas.openxmlformats.org/drawingml/2006/main">
              <a:ext uri="{FF2B5EF4-FFF2-40B4-BE49-F238E27FC236}">
                <a16:creationId xmlns:a16="http://schemas.microsoft.com/office/drawing/2014/main" id="{12131361-3C2B-4B46-B6D4-8DD0BAD48A1E}"/>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Independent operations continue while unrelated activities remain open.</a:t>
            </a:r>
          </a:p>
        </p:txBody>
      </p:sp>
      <p:sp>
        <p:nvSpPr>
          <p:cNvPr id="7" name="">
            <a:extLst xmlns:a="http://schemas.openxmlformats.org/drawingml/2006/main">
              <a:ext uri="{FF2B5EF4-FFF2-40B4-BE49-F238E27FC236}">
                <a16:creationId xmlns:a16="http://schemas.microsoft.com/office/drawing/2014/main" id="{0A61885A-E8B7-4B73-9FAC-ABCBE35DD3C5}"/>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Several prerequisites</a:t>
            </a:r>
          </a:p>
        </p:txBody>
      </p:sp>
      <p:sp>
        <p:nvSpPr>
          <p:cNvPr id="8" name="">
            <a:extLst xmlns:a="http://schemas.openxmlformats.org/drawingml/2006/main">
              <a:ext uri="{FF2B5EF4-FFF2-40B4-BE49-F238E27FC236}">
                <a16:creationId xmlns:a16="http://schemas.microsoft.com/office/drawing/2014/main" id="{7E19D6F6-28AB-405F-9A01-7B4C2904F829}"/>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 stage becomes eligible only when all mandatory inputs are satisfied.</a:t>
            </a:r>
          </a:p>
        </p:txBody>
      </p:sp>
    </p:spTree>
    <p:extLst>
      <p:ext uri="{BB962C8B-B14F-4D97-AF65-F5344CB8AC3E}">
        <p14:creationId xmlns:p14="http://schemas.microsoft.com/office/powerpoint/2010/main" val="246925012"/>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81DFA2E-8BBD-4FDC-AB4E-9568CA0E9320}"/>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Purchases and stores share material status</a:t>
            </a:r>
          </a:p>
        </p:txBody>
      </p:sp>
      <p:sp>
        <p:nvSpPr>
          <p:cNvPr id="2" name="">
            <a:extLst xmlns:a="http://schemas.openxmlformats.org/drawingml/2006/main">
              <a:ext uri="{FF2B5EF4-FFF2-40B4-BE49-F238E27FC236}">
                <a16:creationId xmlns:a16="http://schemas.microsoft.com/office/drawing/2014/main" id="{7BD9F64D-BAE0-41FB-A1F4-FBAC2FE7D312}"/>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08</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2333625"/>
                <a:gridCol w="4286250"/>
                <a:gridCol w="4314825"/>
              </a:tblGrid>
              <a:tr h="742950">
                <a:tc>
                  <a:txBody>
                    <a:bodyPr/>
                    <a:lstStyle/>
                    <a:p>
                      <a:r>
                        <a:rPr sz="1725" b="1">
                          <a:solidFill>
                            <a:srgbClr val="FFFFFF"/>
                          </a:solidFill>
                          <a:latin typeface="Helvetica Neue"/>
                          <a:ea typeface="Helvetica Neue"/>
                          <a:cs typeface="Helvetica Neue"/>
                        </a:rPr>
                        <a:t>Step</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Evidence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Downstream meaning</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PO release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Approved PO and committed date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Material ordered</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Goods receipt</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Actual received quantity</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Material physically received</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Inspection, where required</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Accepted and rejected quantities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Usable quantity known</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Reservation and issue</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Allocation to order and issue record</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Material assigned to the operation</a:t>
                      </a:r>
                    </a:p>
                  </a:txBody>
                  <a:tcPr marL="91440" marR="91440" marT="45720" marB="45720">
                    <a:solidFill>
                      <a:srgbClr val="EEF3F5"/>
                    </a:solidFill>
                  </a:tcPr>
                </a:tc>
              </a:tr>
            </a:tbl>
          </a:graphicData>
        </a:graphic>
      </p:graphicFrame>
    </p:spTree>
    <p:extLst>
      <p:ext uri="{BB962C8B-B14F-4D97-AF65-F5344CB8AC3E}">
        <p14:creationId xmlns:p14="http://schemas.microsoft.com/office/powerpoint/2010/main" val="631269309"/>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CFC033-89DF-4E56-91A3-C41D8886FEA8}"/>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Assembly readiness is specific to an operation</a:t>
            </a:r>
          </a:p>
        </p:txBody>
      </p:sp>
      <p:sp>
        <p:nvSpPr>
          <p:cNvPr id="2" name="">
            <a:extLst xmlns:a="http://schemas.openxmlformats.org/drawingml/2006/main">
              <a:ext uri="{FF2B5EF4-FFF2-40B4-BE49-F238E27FC236}">
                <a16:creationId xmlns:a16="http://schemas.microsoft.com/office/drawing/2014/main" id="{7A7822E7-B44A-4316-9BEB-B22B4EEC3993}"/>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06709185-C8D0-4C36-8B49-3DD85D73C035}"/>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Required inputs</a:t>
            </a:r>
          </a:p>
        </p:txBody>
      </p:sp>
      <p:sp>
        <p:nvSpPr>
          <p:cNvPr id="4" name="">
            <a:extLst xmlns:a="http://schemas.openxmlformats.org/drawingml/2006/main">
              <a:ext uri="{FF2B5EF4-FFF2-40B4-BE49-F238E27FC236}">
                <a16:creationId xmlns:a16="http://schemas.microsoft.com/office/drawing/2014/main" id="{779B7DB9-100D-435B-8CD7-433EF2BFE95F}"/>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Approved drawing revision and the accepted material quantity for this stage.</a:t>
            </a:r>
          </a:p>
        </p:txBody>
      </p:sp>
      <p:sp>
        <p:nvSpPr>
          <p:cNvPr id="5" name="">
            <a:extLst xmlns:a="http://schemas.openxmlformats.org/drawingml/2006/main">
              <a:ext uri="{FF2B5EF4-FFF2-40B4-BE49-F238E27FC236}">
                <a16:creationId xmlns:a16="http://schemas.microsoft.com/office/drawing/2014/main" id="{B627EA02-A8FD-4FC2-9F9E-D63AFC173209}"/>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Execution capacity</a:t>
            </a:r>
          </a:p>
        </p:txBody>
      </p:sp>
      <p:sp>
        <p:nvSpPr>
          <p:cNvPr id="6" name="">
            <a:extLst xmlns:a="http://schemas.openxmlformats.org/drawingml/2006/main">
              <a:ext uri="{FF2B5EF4-FFF2-40B4-BE49-F238E27FC236}">
                <a16:creationId xmlns:a16="http://schemas.microsoft.com/office/drawing/2014/main" id="{0AD2FE46-5186-4E81-BE59-B5479C891D5B}"/>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An available line and suitably skilled people support the planned start.</a:t>
            </a:r>
          </a:p>
        </p:txBody>
      </p:sp>
      <p:sp>
        <p:nvSpPr>
          <p:cNvPr id="7" name="">
            <a:extLst xmlns:a="http://schemas.openxmlformats.org/drawingml/2006/main">
              <a:ext uri="{FF2B5EF4-FFF2-40B4-BE49-F238E27FC236}">
                <a16:creationId xmlns:a16="http://schemas.microsoft.com/office/drawing/2014/main" id="{3B36CCB4-C022-4E44-A075-F963F897B386}"/>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Receipt acceptance</a:t>
            </a:r>
          </a:p>
        </p:txBody>
      </p:sp>
      <p:sp>
        <p:nvSpPr>
          <p:cNvPr id="8" name="">
            <a:extLst xmlns:a="http://schemas.openxmlformats.org/drawingml/2006/main">
              <a:ext uri="{FF2B5EF4-FFF2-40B4-BE49-F238E27FC236}">
                <a16:creationId xmlns:a16="http://schemas.microsoft.com/office/drawing/2014/main" id="{1892AC86-EEB1-4F46-8B34-705E2A2E82B2}"/>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Assembly acknowledges the issued kit and reports discrepancies.</a:t>
            </a:r>
          </a:p>
        </p:txBody>
      </p:sp>
    </p:spTree>
    <p:extLst>
      <p:ext uri="{BB962C8B-B14F-4D97-AF65-F5344CB8AC3E}">
        <p14:creationId xmlns:p14="http://schemas.microsoft.com/office/powerpoint/2010/main" val="1997145271"/>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16B71E-F21F-4D69-9C60-2E4F49318BB9}"/>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Partial supply can release useful work</a:t>
            </a:r>
          </a:p>
        </p:txBody>
      </p:sp>
      <p:sp>
        <p:nvSpPr>
          <p:cNvPr id="2" name="">
            <a:extLst xmlns:a="http://schemas.openxmlformats.org/drawingml/2006/main">
              <a:ext uri="{FF2B5EF4-FFF2-40B4-BE49-F238E27FC236}">
                <a16:creationId xmlns:a16="http://schemas.microsoft.com/office/drawing/2014/main" id="{00B36E6D-D542-4A08-92FF-D9390626E25C}"/>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10</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5048250"/>
                <a:gridCol w="5886450"/>
              </a:tblGrid>
              <a:tr h="742950">
                <a:tc>
                  <a:txBody>
                    <a:bodyPr/>
                    <a:lstStyle/>
                    <a:p>
                      <a:r>
                        <a:rPr sz="1725" b="1">
                          <a:solidFill>
                            <a:srgbClr val="FFFFFF"/>
                          </a:solidFill>
                          <a:latin typeface="Helvetica Neue"/>
                          <a:ea typeface="Helvetica Neue"/>
                          <a:cs typeface="Helvetica Neue"/>
                        </a:rPr>
                        <a:t>Illustrative material status</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Operation decision</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Mechanical kit complete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Mechanical assembly can become ready</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Control panel components incomplete</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Electrical assembly remains blocked</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Final-test component outstanding</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Show testing risk without blocking unrelated work</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Shared stock reserved to another order</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Do not count it as available for this order</a:t>
                      </a:r>
                    </a:p>
                  </a:txBody>
                  <a:tcPr marL="91440" marR="91440" marT="45720" marB="45720">
                    <a:solidFill>
                      <a:srgbClr val="EEF3F5"/>
                    </a:solidFill>
                  </a:tcPr>
                </a:tc>
              </a:tr>
            </a:tbl>
          </a:graphicData>
        </a:graphic>
      </p:graphicFrame>
      <p:sp>
        <p:nvSpPr>
          <p:cNvPr id="4" name="">
            <a:extLst xmlns:a="http://schemas.openxmlformats.org/drawingml/2006/main">
              <a:ext uri="{FF2B5EF4-FFF2-40B4-BE49-F238E27FC236}">
                <a16:creationId xmlns:a16="http://schemas.microsoft.com/office/drawing/2014/main" id="{4F9506A3-BC62-4DD7-9C97-8EEB1789C2BC}"/>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Readiness uses required quantities and allocation, not overall receipt percentage.</a:t>
            </a:r>
          </a:p>
        </p:txBody>
      </p:sp>
    </p:spTree>
    <p:extLst>
      <p:ext uri="{BB962C8B-B14F-4D97-AF65-F5344CB8AC3E}">
        <p14:creationId xmlns:p14="http://schemas.microsoft.com/office/powerpoint/2010/main" val="1344667396"/>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003409E-9E10-49A7-A83B-D0F10CDBEB3D}"/>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Task states make work eligibility visible</a:t>
            </a:r>
          </a:p>
        </p:txBody>
      </p:sp>
      <p:sp>
        <p:nvSpPr>
          <p:cNvPr id="2" name="">
            <a:extLst xmlns:a="http://schemas.openxmlformats.org/drawingml/2006/main">
              <a:ext uri="{FF2B5EF4-FFF2-40B4-BE49-F238E27FC236}">
                <a16:creationId xmlns:a16="http://schemas.microsoft.com/office/drawing/2014/main" id="{AB4C0392-2FEA-4869-9256-CF71FA5F4254}"/>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11</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3810000"/>
                <a:gridCol w="7124700"/>
              </a:tblGrid>
              <a:tr h="742950">
                <a:tc>
                  <a:txBody>
                    <a:bodyPr/>
                    <a:lstStyle/>
                    <a:p>
                      <a:r>
                        <a:rPr sz="1725" b="1">
                          <a:solidFill>
                            <a:srgbClr val="FFFFFF"/>
                          </a:solidFill>
                          <a:latin typeface="Helvetica Neue"/>
                          <a:ea typeface="Helvetica Neue"/>
                          <a:cs typeface="Helvetica Neue"/>
                        </a:rPr>
                        <a:t>State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Meaning</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Planned / Ready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Future work / mandatory prerequisites satisfied</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In progress / Blocked</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Execution started / a recorded obstacle prevents progress</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Submitted for verification</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Owner reports completion with required evidence</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Verified complete / Reopened</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Output accepted / later issue requires further action</a:t>
                      </a:r>
                    </a:p>
                  </a:txBody>
                  <a:tcPr marL="91440" marR="91440" marT="45720" marB="45720">
                    <a:solidFill>
                      <a:srgbClr val="EEF3F5"/>
                    </a:solidFill>
                  </a:tcPr>
                </a:tc>
              </a:tr>
            </a:tbl>
          </a:graphicData>
        </a:graphic>
      </p:graphicFrame>
    </p:spTree>
    <p:extLst>
      <p:ext uri="{BB962C8B-B14F-4D97-AF65-F5344CB8AC3E}">
        <p14:creationId xmlns:p14="http://schemas.microsoft.com/office/powerpoint/2010/main" val="513039731"/>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9D0A96-BFEB-4625-8813-96BBB5ACCAF0}"/>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Completion requires an accepted output</a:t>
            </a:r>
          </a:p>
        </p:txBody>
      </p:sp>
      <p:sp>
        <p:nvSpPr>
          <p:cNvPr id="2" name="">
            <a:extLst xmlns:a="http://schemas.openxmlformats.org/drawingml/2006/main">
              <a:ext uri="{FF2B5EF4-FFF2-40B4-BE49-F238E27FC236}">
                <a16:creationId xmlns:a16="http://schemas.microsoft.com/office/drawing/2014/main" id="{2FCFDFFB-0146-4A42-A4EC-CEBA385AB9FD}"/>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2A3FFA5-3C58-438F-83FC-2EE566B4B2BB}"/>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Transaction evidence</a:t>
            </a:r>
          </a:p>
        </p:txBody>
      </p:sp>
      <p:sp>
        <p:nvSpPr>
          <p:cNvPr id="4" name="">
            <a:extLst xmlns:a="http://schemas.openxmlformats.org/drawingml/2006/main">
              <a:ext uri="{FF2B5EF4-FFF2-40B4-BE49-F238E27FC236}">
                <a16:creationId xmlns:a16="http://schemas.microsoft.com/office/drawing/2014/main" id="{D5F5307F-EEB8-4DE9-B4F3-E176B7D899CE}"/>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Use receipts, inspection results, issues and operation records already captured.</a:t>
            </a:r>
          </a:p>
        </p:txBody>
      </p:sp>
      <p:sp>
        <p:nvSpPr>
          <p:cNvPr id="5" name="">
            <a:extLst xmlns:a="http://schemas.openxmlformats.org/drawingml/2006/main">
              <a:ext uri="{FF2B5EF4-FFF2-40B4-BE49-F238E27FC236}">
                <a16:creationId xmlns:a16="http://schemas.microsoft.com/office/drawing/2014/main" id="{F57F67FB-D230-4105-B7D7-4D0127A1C6CC}"/>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Proportionate verification</a:t>
            </a:r>
          </a:p>
        </p:txBody>
      </p:sp>
      <p:sp>
        <p:nvSpPr>
          <p:cNvPr id="6" name="">
            <a:extLst xmlns:a="http://schemas.openxmlformats.org/drawingml/2006/main">
              <a:ext uri="{FF2B5EF4-FFF2-40B4-BE49-F238E27FC236}">
                <a16:creationId xmlns:a16="http://schemas.microsoft.com/office/drawing/2014/main" id="{51A612E3-5207-432C-85CD-9FB18AF1F25B}"/>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Automate routine checks and reserve human acceptance for important gates.</a:t>
            </a:r>
          </a:p>
        </p:txBody>
      </p:sp>
      <p:sp>
        <p:nvSpPr>
          <p:cNvPr id="7" name="">
            <a:extLst xmlns:a="http://schemas.openxmlformats.org/drawingml/2006/main">
              <a:ext uri="{FF2B5EF4-FFF2-40B4-BE49-F238E27FC236}">
                <a16:creationId xmlns:a16="http://schemas.microsoft.com/office/drawing/2014/main" id="{6EFBE37A-AF01-449D-99E2-12F7FCBC7B86}"/>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Traceable correction</a:t>
            </a:r>
          </a:p>
        </p:txBody>
      </p:sp>
      <p:sp>
        <p:nvSpPr>
          <p:cNvPr id="8" name="">
            <a:extLst xmlns:a="http://schemas.openxmlformats.org/drawingml/2006/main">
              <a:ext uri="{FF2B5EF4-FFF2-40B4-BE49-F238E27FC236}">
                <a16:creationId xmlns:a16="http://schemas.microsoft.com/office/drawing/2014/main" id="{1E11A5C7-7E6B-477E-ABA2-663E0ABEAEA6}"/>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Record rejection, reopening, reason, actor and timestamp without erasing history.</a:t>
            </a:r>
          </a:p>
        </p:txBody>
      </p:sp>
    </p:spTree>
    <p:extLst>
      <p:ext uri="{BB962C8B-B14F-4D97-AF65-F5344CB8AC3E}">
        <p14:creationId xmlns:p14="http://schemas.microsoft.com/office/powerpoint/2010/main" val="802325698"/>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BAA6570-8820-4C08-BEA7-A4DBB0DFA6E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Delay reporting separates different causes</a:t>
            </a:r>
          </a:p>
        </p:txBody>
      </p:sp>
      <p:sp>
        <p:nvSpPr>
          <p:cNvPr id="2" name="">
            <a:extLst xmlns:a="http://schemas.openxmlformats.org/drawingml/2006/main">
              <a:ext uri="{FF2B5EF4-FFF2-40B4-BE49-F238E27FC236}">
                <a16:creationId xmlns:a16="http://schemas.microsoft.com/office/drawing/2014/main" id="{FA649EF6-7FB5-4C47-9CC4-3E505683B12E}"/>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13</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3286125"/>
                <a:gridCol w="7648575"/>
              </a:tblGrid>
              <a:tr h="619125">
                <a:tc>
                  <a:txBody>
                    <a:bodyPr/>
                    <a:lstStyle/>
                    <a:p>
                      <a:r>
                        <a:rPr sz="1725" b="1">
                          <a:solidFill>
                            <a:srgbClr val="FFFFFF"/>
                          </a:solidFill>
                          <a:latin typeface="Helvetica Neue"/>
                          <a:ea typeface="Helvetica Neue"/>
                          <a:cs typeface="Helvetica Neue"/>
                        </a:rPr>
                        <a:t>Measure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Management question</a:t>
                      </a:r>
                    </a:p>
                  </a:txBody>
                  <a:tcPr marL="91440" marR="91440" marT="45720" marB="45720">
                    <a:solidFill>
                      <a:srgbClr val="112B3C"/>
                    </a:solidFill>
                  </a:tcPr>
                </a:tc>
              </a:tr>
              <a:tr h="619125">
                <a:tc>
                  <a:txBody>
                    <a:bodyPr/>
                    <a:lstStyle/>
                    <a:p>
                      <a:r>
                        <a:rPr sz="1650" b="0">
                          <a:solidFill>
                            <a:srgbClr val="183648"/>
                          </a:solidFill>
                          <a:latin typeface="Helvetica Neue"/>
                          <a:ea typeface="Helvetica Neue"/>
                          <a:cs typeface="Helvetica Neue"/>
                        </a:rPr>
                        <a:t>Baseline variance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How far did the task move from the approved plan?</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Dependency waiting</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How long did a missing input prevent eligible progress?</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Ready queue time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How long did ready work wait for execution?</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Execution overrun</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How much did execution exceed its agreed allowance?</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Verification waiting</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How long has acceptance remained pending?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89B0166-1E5D-49E7-BEFA-D987AD5B893D}"/>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Delivery variance remains a separate order-level measure.</a:t>
            </a:r>
          </a:p>
        </p:txBody>
      </p:sp>
    </p:spTree>
    <p:extLst>
      <p:ext uri="{BB962C8B-B14F-4D97-AF65-F5344CB8AC3E}">
        <p14:creationId xmlns:p14="http://schemas.microsoft.com/office/powerpoint/2010/main" val="107168622"/>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B3213D-CD9C-4A2B-A547-EAA67B6F951F}"/>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One disruption can affect several task dates</a:t>
            </a:r>
          </a:p>
        </p:txBody>
      </p:sp>
      <p:sp>
        <p:nvSpPr>
          <p:cNvPr id="2" name="">
            <a:extLst xmlns:a="http://schemas.openxmlformats.org/drawingml/2006/main">
              <a:ext uri="{FF2B5EF4-FFF2-40B4-BE49-F238E27FC236}">
                <a16:creationId xmlns:a16="http://schemas.microsoft.com/office/drawing/2014/main" id="{354ED3D7-1E04-4DF8-A89B-0E09AA2AE328}"/>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14</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4953000"/>
                <a:gridCol w="2990850"/>
                <a:gridCol w="2990850"/>
              </a:tblGrid>
              <a:tr h="928688">
                <a:tc>
                  <a:txBody>
                    <a:bodyPr/>
                    <a:lstStyle/>
                    <a:p>
                      <a:r>
                        <a:rPr sz="1725" b="1">
                          <a:solidFill>
                            <a:srgbClr val="FFFFFF"/>
                          </a:solidFill>
                          <a:latin typeface="Helvetica Neue"/>
                          <a:ea typeface="Helvetica Neue"/>
                          <a:cs typeface="Helvetica Neue"/>
                        </a:rPr>
                        <a:t>Illustrative sequence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Baseline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Actual</a:t>
                      </a:r>
                    </a:p>
                  </a:txBody>
                  <a:tcPr marL="91440" marR="91440" marT="45720" marB="45720">
                    <a:solidFill>
                      <a:srgbClr val="112B3C"/>
                    </a:solidFill>
                  </a:tcPr>
                </a:tc>
              </a:tr>
              <a:tr h="928688">
                <a:tc>
                  <a:txBody>
                    <a:bodyPr/>
                    <a:lstStyle/>
                    <a:p>
                      <a:r>
                        <a:rPr sz="1650" b="0">
                          <a:solidFill>
                            <a:srgbClr val="183648"/>
                          </a:solidFill>
                          <a:latin typeface="Helvetica Neue"/>
                          <a:ea typeface="Helvetica Neue"/>
                          <a:cs typeface="Helvetica Neue"/>
                        </a:rPr>
                        <a:t>Required material ready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End of Day 2</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End of Day 5</a:t>
                      </a:r>
                    </a:p>
                  </a:txBody>
                  <a:tcPr marL="91440" marR="91440" marT="45720" marB="45720">
                    <a:solidFill>
                      <a:srgbClr val="FFFFFF"/>
                    </a:solidFill>
                  </a:tcPr>
                </a:tc>
              </a:tr>
              <a:tr h="928688">
                <a:tc>
                  <a:txBody>
                    <a:bodyPr/>
                    <a:lstStyle/>
                    <a:p>
                      <a:r>
                        <a:rPr sz="1650" b="0">
                          <a:solidFill>
                            <a:srgbClr val="183648"/>
                          </a:solidFill>
                          <a:latin typeface="Helvetica Neue"/>
                          <a:ea typeface="Helvetica Neue"/>
                          <a:cs typeface="Helvetica Neue"/>
                        </a:rPr>
                        <a:t>Assembly: 2 working days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Days 3–4</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Days 6–7</a:t>
                      </a:r>
                    </a:p>
                  </a:txBody>
                  <a:tcPr marL="91440" marR="91440" marT="45720" marB="45720">
                    <a:solidFill>
                      <a:srgbClr val="EEF3F5"/>
                    </a:solidFill>
                  </a:tcPr>
                </a:tc>
              </a:tr>
              <a:tr h="928688">
                <a:tc>
                  <a:txBody>
                    <a:bodyPr/>
                    <a:lstStyle/>
                    <a:p>
                      <a:r>
                        <a:rPr sz="1650" b="0">
                          <a:solidFill>
                            <a:srgbClr val="183648"/>
                          </a:solidFill>
                          <a:latin typeface="Helvetica Neue"/>
                          <a:ea typeface="Helvetica Neue"/>
                          <a:cs typeface="Helvetica Neue"/>
                        </a:rPr>
                        <a:t>Assembly completion</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End of Day 4</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End of Day 7</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085273D-EBCE-43B0-A462-7F5D5D381A56}"/>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Material readiness is 3 days late. Assembly execution overrun is 0 days.</a:t>
            </a:r>
          </a:p>
        </p:txBody>
      </p:sp>
    </p:spTree>
    <p:extLst>
      <p:ext uri="{BB962C8B-B14F-4D97-AF65-F5344CB8AC3E}">
        <p14:creationId xmlns:p14="http://schemas.microsoft.com/office/powerpoint/2010/main" val="1416955386"/>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23F0F48-B023-4776-B902-2B5BA49D1144}"/>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Delivery impact depends on the remaining plan</a:t>
            </a:r>
          </a:p>
        </p:txBody>
      </p:sp>
      <p:sp>
        <p:nvSpPr>
          <p:cNvPr id="2" name="">
            <a:extLst xmlns:a="http://schemas.openxmlformats.org/drawingml/2006/main">
              <a:ext uri="{FF2B5EF4-FFF2-40B4-BE49-F238E27FC236}">
                <a16:creationId xmlns:a16="http://schemas.microsoft.com/office/drawing/2014/main" id="{F9BBBB8B-939C-41D1-97E9-4656083DAF05}"/>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D2446EC5-1B74-4A5F-AEBE-A81E5A19286E}"/>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Shared disruption</a:t>
            </a:r>
          </a:p>
        </p:txBody>
      </p:sp>
      <p:sp>
        <p:nvSpPr>
          <p:cNvPr id="4" name="">
            <a:extLst xmlns:a="http://schemas.openxmlformats.org/drawingml/2006/main">
              <a:ext uri="{FF2B5EF4-FFF2-40B4-BE49-F238E27FC236}">
                <a16:creationId xmlns:a16="http://schemas.microsoft.com/office/drawing/2014/main" id="{E70AFED7-CB77-4259-8E06-4A7E74315F50}"/>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The same 3-day shift can appear against both material and assembly dates.</a:t>
            </a:r>
          </a:p>
        </p:txBody>
      </p:sp>
      <p:sp>
        <p:nvSpPr>
          <p:cNvPr id="5" name="">
            <a:extLst xmlns:a="http://schemas.openxmlformats.org/drawingml/2006/main">
              <a:ext uri="{FF2B5EF4-FFF2-40B4-BE49-F238E27FC236}">
                <a16:creationId xmlns:a16="http://schemas.microsoft.com/office/drawing/2014/main" id="{6FD77B7B-6911-49F5-986D-2D197E0A6CDE}"/>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No duplicate project delay</a:t>
            </a:r>
          </a:p>
        </p:txBody>
      </p:sp>
      <p:sp>
        <p:nvSpPr>
          <p:cNvPr id="6" name="">
            <a:extLst xmlns:a="http://schemas.openxmlformats.org/drawingml/2006/main">
              <a:ext uri="{FF2B5EF4-FFF2-40B4-BE49-F238E27FC236}">
                <a16:creationId xmlns:a16="http://schemas.microsoft.com/office/drawing/2014/main" id="{A7037B1B-6B94-4DC3-AE9C-21D80DA6AF2C}"/>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Adding these task variances would incorrectly produce 6 days.</a:t>
            </a:r>
          </a:p>
        </p:txBody>
      </p:sp>
      <p:sp>
        <p:nvSpPr>
          <p:cNvPr id="7" name="">
            <a:extLst xmlns:a="http://schemas.openxmlformats.org/drawingml/2006/main">
              <a:ext uri="{FF2B5EF4-FFF2-40B4-BE49-F238E27FC236}">
                <a16:creationId xmlns:a16="http://schemas.microsoft.com/office/drawing/2014/main" id="{2DF79BEB-6130-422F-8FA2-213D715F82D3}"/>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Conditional delivery impact</a:t>
            </a:r>
          </a:p>
        </p:txBody>
      </p:sp>
      <p:sp>
        <p:nvSpPr>
          <p:cNvPr id="8" name="">
            <a:extLst xmlns:a="http://schemas.openxmlformats.org/drawingml/2006/main">
              <a:ext uri="{FF2B5EF4-FFF2-40B4-BE49-F238E27FC236}">
                <a16:creationId xmlns:a16="http://schemas.microsoft.com/office/drawing/2014/main" id="{54AAE271-D31F-4A3B-8388-FDB4DBFA7390}"/>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Delivery moves 3 days only if the plan cannot absorb or recover the shift.</a:t>
            </a:r>
          </a:p>
        </p:txBody>
      </p:sp>
    </p:spTree>
    <p:extLst>
      <p:ext uri="{BB962C8B-B14F-4D97-AF65-F5344CB8AC3E}">
        <p14:creationId xmlns:p14="http://schemas.microsoft.com/office/powerpoint/2010/main" val="1238538550"/>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98182F-31D0-4EFB-93A1-FCDF87D08142}"/>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The baseline stays visible as forecasts change</a:t>
            </a:r>
          </a:p>
        </p:txBody>
      </p:sp>
      <p:sp>
        <p:nvSpPr>
          <p:cNvPr id="2" name="">
            <a:extLst xmlns:a="http://schemas.openxmlformats.org/drawingml/2006/main">
              <a:ext uri="{FF2B5EF4-FFF2-40B4-BE49-F238E27FC236}">
                <a16:creationId xmlns:a16="http://schemas.microsoft.com/office/drawing/2014/main" id="{928CE8DF-DA33-4CF0-99B3-5384829F5A45}"/>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8072A9E9-E2A1-470D-999D-31776CAA4EAE}"/>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Approved baseline</a:t>
            </a:r>
          </a:p>
        </p:txBody>
      </p:sp>
      <p:sp>
        <p:nvSpPr>
          <p:cNvPr id="4" name="">
            <a:extLst xmlns:a="http://schemas.openxmlformats.org/drawingml/2006/main">
              <a:ext uri="{FF2B5EF4-FFF2-40B4-BE49-F238E27FC236}">
                <a16:creationId xmlns:a16="http://schemas.microsoft.com/office/drawing/2014/main" id="{7782018A-40EE-4222-8F74-0E5314B5C04E}"/>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Retain original milestone dates and their approval history.</a:t>
            </a:r>
          </a:p>
        </p:txBody>
      </p:sp>
      <p:sp>
        <p:nvSpPr>
          <p:cNvPr id="5" name="">
            <a:extLst xmlns:a="http://schemas.openxmlformats.org/drawingml/2006/main">
              <a:ext uri="{FF2B5EF4-FFF2-40B4-BE49-F238E27FC236}">
                <a16:creationId xmlns:a16="http://schemas.microsoft.com/office/drawing/2014/main" id="{03798A7E-EEFD-4D29-9441-00CD9BD7265F}"/>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Current forecast</a:t>
            </a:r>
          </a:p>
        </p:txBody>
      </p:sp>
      <p:sp>
        <p:nvSpPr>
          <p:cNvPr id="6" name="">
            <a:extLst xmlns:a="http://schemas.openxmlformats.org/drawingml/2006/main">
              <a:ext uri="{FF2B5EF4-FFF2-40B4-BE49-F238E27FC236}">
                <a16:creationId xmlns:a16="http://schemas.microsoft.com/office/drawing/2014/main" id="{4ED46901-54B2-4FFE-A189-37681F1D2CF3}"/>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Recalculate likely dates using verified progress and remaining constraints.</a:t>
            </a:r>
          </a:p>
        </p:txBody>
      </p:sp>
      <p:sp>
        <p:nvSpPr>
          <p:cNvPr id="7" name="">
            <a:extLst xmlns:a="http://schemas.openxmlformats.org/drawingml/2006/main">
              <a:ext uri="{FF2B5EF4-FFF2-40B4-BE49-F238E27FC236}">
                <a16:creationId xmlns:a16="http://schemas.microsoft.com/office/drawing/2014/main" id="{65873487-3FBC-4225-B725-4C6AD113AA8F}"/>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Controlled replan</a:t>
            </a:r>
          </a:p>
        </p:txBody>
      </p:sp>
      <p:sp>
        <p:nvSpPr>
          <p:cNvPr id="8" name="">
            <a:extLst xmlns:a="http://schemas.openxmlformats.org/drawingml/2006/main">
              <a:ext uri="{FF2B5EF4-FFF2-40B4-BE49-F238E27FC236}">
                <a16:creationId xmlns:a16="http://schemas.microsoft.com/office/drawing/2014/main" id="{4651F84F-928F-44C9-8E2D-72BD1D26E7F2}"/>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Record why a plan changed and who authorized a new baseline version.</a:t>
            </a:r>
          </a:p>
        </p:txBody>
      </p:sp>
    </p:spTree>
    <p:extLst>
      <p:ext uri="{BB962C8B-B14F-4D97-AF65-F5344CB8AC3E}">
        <p14:creationId xmlns:p14="http://schemas.microsoft.com/office/powerpoint/2010/main" val="1951588623"/>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5EB429D-5B2F-437D-952B-ED755692B5B1}"/>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Every blocker has a resolver and a next action</a:t>
            </a:r>
          </a:p>
        </p:txBody>
      </p:sp>
      <p:sp>
        <p:nvSpPr>
          <p:cNvPr id="2" name="">
            <a:extLst xmlns:a="http://schemas.openxmlformats.org/drawingml/2006/main">
              <a:ext uri="{FF2B5EF4-FFF2-40B4-BE49-F238E27FC236}">
                <a16:creationId xmlns:a16="http://schemas.microsoft.com/office/drawing/2014/main" id="{F9826C6F-A75D-47C0-AC83-9B874D01C3D6}"/>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17</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4095750"/>
                <a:gridCol w="6838950"/>
              </a:tblGrid>
              <a:tr h="742950">
                <a:tc>
                  <a:txBody>
                    <a:bodyPr/>
                    <a:lstStyle/>
                    <a:p>
                      <a:r>
                        <a:rPr sz="1725" b="1">
                          <a:solidFill>
                            <a:srgbClr val="FFFFFF"/>
                          </a:solidFill>
                          <a:latin typeface="Helvetica Neue"/>
                          <a:ea typeface="Helvetica Neue"/>
                          <a:cs typeface="Helvetica Neue"/>
                        </a:rPr>
                        <a:t>Record</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Purpose</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Cause and affected operation</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Explain what cannot proceed and why</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Resolver and target date</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Name the person responsible for removing the obstacle</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Evidence and time interval</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Support a reviewable delay explanation</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Escalation and recovery action</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Make overdue or delivery-critical blockers actionable</a:t>
                      </a:r>
                    </a:p>
                  </a:txBody>
                  <a:tcPr marL="91440" marR="91440" marT="45720" marB="45720">
                    <a:solidFill>
                      <a:srgbClr val="EEF3F5"/>
                    </a:solidFill>
                  </a:tcPr>
                </a:tc>
              </a:tr>
            </a:tbl>
          </a:graphicData>
        </a:graphic>
      </p:graphicFrame>
    </p:spTree>
    <p:extLst>
      <p:ext uri="{BB962C8B-B14F-4D97-AF65-F5344CB8AC3E}">
        <p14:creationId xmlns:p14="http://schemas.microsoft.com/office/powerpoint/2010/main" val="718470440"/>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7F0D79-DAFE-437A-9ADF-CCB5B2F0883E}"/>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Ownership covers both tasks and handoffs</a:t>
            </a:r>
          </a:p>
        </p:txBody>
      </p:sp>
      <p:sp>
        <p:nvSpPr>
          <p:cNvPr id="2" name="">
            <a:extLst xmlns:a="http://schemas.openxmlformats.org/drawingml/2006/main">
              <a:ext uri="{FF2B5EF4-FFF2-40B4-BE49-F238E27FC236}">
                <a16:creationId xmlns:a16="http://schemas.microsoft.com/office/drawing/2014/main" id="{2A884B70-F63A-4387-8BC5-61CE346D320B}"/>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18</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3476625"/>
                <a:gridCol w="7458075"/>
              </a:tblGrid>
              <a:tr h="619125">
                <a:tc>
                  <a:txBody>
                    <a:bodyPr/>
                    <a:lstStyle/>
                    <a:p>
                      <a:r>
                        <a:rPr sz="1725" b="1">
                          <a:solidFill>
                            <a:srgbClr val="FFFFFF"/>
                          </a:solidFill>
                          <a:latin typeface="Helvetica Neue"/>
                          <a:ea typeface="Helvetica Neue"/>
                          <a:cs typeface="Helvetica Neue"/>
                        </a:rPr>
                        <a:t>Role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Proposed accountability</a:t>
                      </a:r>
                    </a:p>
                  </a:txBody>
                  <a:tcPr marL="91440" marR="91440" marT="45720" marB="45720">
                    <a:solidFill>
                      <a:srgbClr val="112B3C"/>
                    </a:solidFill>
                  </a:tcPr>
                </a:tc>
              </a:tr>
              <a:tr h="619125">
                <a:tc>
                  <a:txBody>
                    <a:bodyPr/>
                    <a:lstStyle/>
                    <a:p>
                      <a:r>
                        <a:rPr sz="1650" b="0">
                          <a:solidFill>
                            <a:srgbClr val="183648"/>
                          </a:solidFill>
                          <a:latin typeface="Helvetica Neue"/>
                          <a:ea typeface="Helvetica Neue"/>
                          <a:cs typeface="Helvetica Neue"/>
                        </a:rPr>
                        <a:t>Order coordinator</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Overall plan, cross-department issues and forecast</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Purchases owner</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Supplier commitment and material follow-up</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Stores / quality owner</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Receipt, acceptance, allocation and issue accuracy</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Assembly owner</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Kit acknowledgement and operation execution</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Process owner / manager</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Exceptions, disputed causes and overdue acceptance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77964617"/>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B26C26B-06B1-40C3-A84B-4669C967C596}"/>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Management sees the orders that need intervention</a:t>
            </a:r>
          </a:p>
        </p:txBody>
      </p:sp>
      <p:sp>
        <p:nvSpPr>
          <p:cNvPr id="2" name="">
            <a:extLst xmlns:a="http://schemas.openxmlformats.org/drawingml/2006/main">
              <a:ext uri="{FF2B5EF4-FFF2-40B4-BE49-F238E27FC236}">
                <a16:creationId xmlns:a16="http://schemas.microsoft.com/office/drawing/2014/main" id="{8D48EE6B-D4D5-424B-9FC2-273804CE12E2}"/>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19</a:t>
            </a:r>
          </a:p>
        </p:txBody>
      </p:sp>
      <p:graphicFrame>
        <p:nvGraphicFramePr>
          <p:cNvPr id="6"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3619500"/>
                <a:gridCol w="7315200"/>
              </a:tblGrid>
              <a:tr h="619125">
                <a:tc>
                  <a:txBody>
                    <a:bodyPr/>
                    <a:lstStyle/>
                    <a:p>
                      <a:r>
                        <a:rPr sz="1725" b="1">
                          <a:solidFill>
                            <a:srgbClr val="FFFFFF"/>
                          </a:solidFill>
                          <a:latin typeface="Helvetica Neue"/>
                          <a:ea typeface="Helvetica Neue"/>
                          <a:cs typeface="Helvetica Neue"/>
                        </a:rPr>
                        <a:t>View</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Decision supported</a:t>
                      </a:r>
                    </a:p>
                  </a:txBody>
                  <a:tcPr marL="91440" marR="91440" marT="45720" marB="45720">
                    <a:solidFill>
                      <a:srgbClr val="112B3C"/>
                    </a:solidFill>
                  </a:tcPr>
                </a:tc>
              </a:tr>
              <a:tr h="619125">
                <a:tc>
                  <a:txBody>
                    <a:bodyPr/>
                    <a:lstStyle/>
                    <a:p>
                      <a:r>
                        <a:rPr sz="1650" b="0">
                          <a:solidFill>
                            <a:srgbClr val="183648"/>
                          </a:solidFill>
                          <a:latin typeface="Helvetica Neue"/>
                          <a:ea typeface="Helvetica Neue"/>
                          <a:cs typeface="Helvetica Neue"/>
                        </a:rPr>
                        <a:t>Delivery risk</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Which orders need recovery action?</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Material blockers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Which shortage should purchases resolve first?</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Ready work awaiting capacity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Where can line or manpower changes help?</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Unverified completion</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Which handoff needs acceptance?</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Reopened work</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Where do recurring quality failures need attention?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50310878"/>
      </p:ext>
    </p:extLst>
  </p:cSld>
</p:sld>
</file>

<file path=ppt/slides/slide2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1F89DB5-F716-4D16-878D-0E368FFAB87A}"/>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Pilot measures make improvement testable</a:t>
            </a:r>
          </a:p>
        </p:txBody>
      </p:sp>
      <p:sp>
        <p:nvSpPr>
          <p:cNvPr id="2" name="">
            <a:extLst xmlns:a="http://schemas.openxmlformats.org/drawingml/2006/main">
              <a:ext uri="{FF2B5EF4-FFF2-40B4-BE49-F238E27FC236}">
                <a16:creationId xmlns:a16="http://schemas.microsoft.com/office/drawing/2014/main" id="{7965BBAA-62FF-4F38-BEB5-C44EB6D615DE}"/>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20</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3524250"/>
                <a:gridCol w="7410450"/>
              </a:tblGrid>
              <a:tr h="619125">
                <a:tc>
                  <a:txBody>
                    <a:bodyPr/>
                    <a:lstStyle/>
                    <a:p>
                      <a:r>
                        <a:rPr sz="1725" b="1">
                          <a:solidFill>
                            <a:srgbClr val="FFFFFF"/>
                          </a:solidFill>
                          <a:latin typeface="Helvetica Neue"/>
                          <a:ea typeface="Helvetica Neue"/>
                          <a:cs typeface="Helvetica Neue"/>
                        </a:rPr>
                        <a:t>Metric</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Definition</a:t>
                      </a:r>
                    </a:p>
                  </a:txBody>
                  <a:tcPr marL="91440" marR="91440" marT="45720" marB="45720">
                    <a:solidFill>
                      <a:srgbClr val="112B3C"/>
                    </a:solidFill>
                  </a:tcPr>
                </a:tc>
              </a:tr>
              <a:tr h="619125">
                <a:tc>
                  <a:txBody>
                    <a:bodyPr/>
                    <a:lstStyle/>
                    <a:p>
                      <a:r>
                        <a:rPr sz="1650" b="0">
                          <a:solidFill>
                            <a:srgbClr val="183648"/>
                          </a:solidFill>
                          <a:latin typeface="Helvetica Neue"/>
                          <a:ea typeface="Helvetica Neue"/>
                          <a:cs typeface="Helvetica Neue"/>
                        </a:rPr>
                        <a:t>On-time delivery</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Orders completed by commitment / completed orders</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Blocked time</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Working time in validated blocker intervals</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Ready queue time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Working time from readiness to execution start</a:t>
                      </a:r>
                    </a:p>
                  </a:txBody>
                  <a:tcPr marL="91440" marR="91440" marT="45720" marB="45720">
                    <a:solidFill>
                      <a:srgbClr val="FFFFFF"/>
                    </a:solidFill>
                  </a:tcPr>
                </a:tc>
              </a:tr>
              <a:tr h="619125">
                <a:tc>
                  <a:txBody>
                    <a:bodyPr/>
                    <a:lstStyle/>
                    <a:p>
                      <a:r>
                        <a:rPr sz="1650" b="0">
                          <a:solidFill>
                            <a:srgbClr val="183648"/>
                          </a:solidFill>
                          <a:latin typeface="Helvetica Neue"/>
                          <a:ea typeface="Helvetica Neue"/>
                          <a:cs typeface="Helvetica Neue"/>
                        </a:rPr>
                        <a:t>Verification time</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Time from submission to acceptance</a:t>
                      </a:r>
                    </a:p>
                  </a:txBody>
                  <a:tcPr marL="91440" marR="91440" marT="45720" marB="45720">
                    <a:solidFill>
                      <a:srgbClr val="EEF3F5"/>
                    </a:solidFill>
                  </a:tcPr>
                </a:tc>
              </a:tr>
              <a:tr h="619125">
                <a:tc>
                  <a:txBody>
                    <a:bodyPr/>
                    <a:lstStyle/>
                    <a:p>
                      <a:r>
                        <a:rPr sz="1650" b="0">
                          <a:solidFill>
                            <a:srgbClr val="183648"/>
                          </a:solidFill>
                          <a:latin typeface="Helvetica Neue"/>
                          <a:ea typeface="Helvetica Neue"/>
                          <a:cs typeface="Helvetica Neue"/>
                        </a:rPr>
                        <a:t>Reopen rate</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Completed tasks reopened / completed tasks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13F5A0A-BEEE-4B9A-9825-8A422BF2236F}"/>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Baseline values and numerical improvement targets remain to be agreed.</a:t>
            </a:r>
          </a:p>
        </p:txBody>
      </p:sp>
    </p:spTree>
    <p:extLst>
      <p:ext uri="{BB962C8B-B14F-4D97-AF65-F5344CB8AC3E}">
        <p14:creationId xmlns:p14="http://schemas.microsoft.com/office/powerpoint/2010/main" val="180018335"/>
      </p:ext>
    </p:extLst>
  </p:cSld>
</p:sld>
</file>

<file path=ppt/slides/slide2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D6132A-8F7C-449D-BF7A-548791621ECE}"/>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Software changes connect existing business events</a:t>
            </a:r>
          </a:p>
        </p:txBody>
      </p:sp>
      <p:sp>
        <p:nvSpPr>
          <p:cNvPr id="2" name="">
            <a:extLst xmlns:a="http://schemas.openxmlformats.org/drawingml/2006/main">
              <a:ext uri="{FF2B5EF4-FFF2-40B4-BE49-F238E27FC236}">
                <a16:creationId xmlns:a16="http://schemas.microsoft.com/office/drawing/2014/main" id="{D5339F7E-4795-4605-B375-189690CF0A6E}"/>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4B6C10F4-FAA7-4F95-9E23-EEC842FEA1DE}"/>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Shared identifiers</a:t>
            </a:r>
          </a:p>
        </p:txBody>
      </p:sp>
      <p:sp>
        <p:nvSpPr>
          <p:cNvPr id="4" name="">
            <a:extLst xmlns:a="http://schemas.openxmlformats.org/drawingml/2006/main">
              <a:ext uri="{FF2B5EF4-FFF2-40B4-BE49-F238E27FC236}">
                <a16:creationId xmlns:a16="http://schemas.microsoft.com/office/drawing/2014/main" id="{A1605228-015D-4B08-88C9-C83D0DEE0785}"/>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Link order, machine, BOM revision, operation and material line across modules.</a:t>
            </a:r>
          </a:p>
        </p:txBody>
      </p:sp>
      <p:sp>
        <p:nvSpPr>
          <p:cNvPr id="5" name="">
            <a:extLst xmlns:a="http://schemas.openxmlformats.org/drawingml/2006/main">
              <a:ext uri="{FF2B5EF4-FFF2-40B4-BE49-F238E27FC236}">
                <a16:creationId xmlns:a16="http://schemas.microsoft.com/office/drawing/2014/main" id="{F338F7B4-C463-450A-84CD-6BA24D479DC0}"/>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Rules and event history</a:t>
            </a:r>
          </a:p>
        </p:txBody>
      </p:sp>
      <p:sp>
        <p:nvSpPr>
          <p:cNvPr id="6" name="">
            <a:extLst xmlns:a="http://schemas.openxmlformats.org/drawingml/2006/main">
              <a:ext uri="{FF2B5EF4-FFF2-40B4-BE49-F238E27FC236}">
                <a16:creationId xmlns:a16="http://schemas.microsoft.com/office/drawing/2014/main" id="{048B39BF-2A45-4288-A5C2-69FD1A2AA69A}"/>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Store dependencies, state transitions, evidence and blocker intervals.</a:t>
            </a:r>
          </a:p>
        </p:txBody>
      </p:sp>
      <p:sp>
        <p:nvSpPr>
          <p:cNvPr id="7" name="">
            <a:extLst xmlns:a="http://schemas.openxmlformats.org/drawingml/2006/main">
              <a:ext uri="{FF2B5EF4-FFF2-40B4-BE49-F238E27FC236}">
                <a16:creationId xmlns:a16="http://schemas.microsoft.com/office/drawing/2014/main" id="{A9BDD53A-A401-4235-A647-9A0608FE104D}"/>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Reliable integration</a:t>
            </a:r>
          </a:p>
        </p:txBody>
      </p:sp>
      <p:sp>
        <p:nvSpPr>
          <p:cNvPr id="8" name="">
            <a:extLst xmlns:a="http://schemas.openxmlformats.org/drawingml/2006/main">
              <a:ext uri="{FF2B5EF4-FFF2-40B4-BE49-F238E27FC236}">
                <a16:creationId xmlns:a16="http://schemas.microsoft.com/office/drawing/2014/main" id="{E1A3C2BE-DC69-46A4-BA54-1CB3C1AC6513}"/>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Validate quantities, prevent duplicate events and reconcile missing updates.</a:t>
            </a:r>
          </a:p>
        </p:txBody>
      </p:sp>
    </p:spTree>
    <p:extLst>
      <p:ext uri="{BB962C8B-B14F-4D97-AF65-F5344CB8AC3E}">
        <p14:creationId xmlns:p14="http://schemas.microsoft.com/office/powerpoint/2010/main" val="1359059657"/>
      </p:ext>
    </p:extLst>
  </p:cSld>
</p:sld>
</file>

<file path=ppt/slides/slide2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1922F8-6837-4D52-A827-C6E68DC654A2}"/>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A phased rollout limits disruption</a:t>
            </a:r>
          </a:p>
        </p:txBody>
      </p:sp>
      <p:sp>
        <p:nvSpPr>
          <p:cNvPr id="2" name="">
            <a:extLst xmlns:a="http://schemas.openxmlformats.org/drawingml/2006/main">
              <a:ext uri="{FF2B5EF4-FFF2-40B4-BE49-F238E27FC236}">
                <a16:creationId xmlns:a16="http://schemas.microsoft.com/office/drawing/2014/main" id="{50D815BA-0D37-42D8-B6FD-C6ADCE178A0A}"/>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22</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2000250"/>
                <a:gridCol w="5000625"/>
                <a:gridCol w="3933825"/>
              </a:tblGrid>
              <a:tr h="928688">
                <a:tc>
                  <a:txBody>
                    <a:bodyPr/>
                    <a:lstStyle/>
                    <a:p>
                      <a:r>
                        <a:rPr sz="1725" b="1">
                          <a:solidFill>
                            <a:srgbClr val="FFFFFF"/>
                          </a:solidFill>
                          <a:latin typeface="Helvetica Neue"/>
                          <a:ea typeface="Helvetica Neue"/>
                          <a:cs typeface="Helvetica Neue"/>
                        </a:rPr>
                        <a:t>Phase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Scope</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Exit evidence</a:t>
                      </a:r>
                    </a:p>
                  </a:txBody>
                  <a:tcPr marL="91440" marR="91440" marT="45720" marB="45720">
                    <a:solidFill>
                      <a:srgbClr val="112B3C"/>
                    </a:solidFill>
                  </a:tcPr>
                </a:tc>
              </a:tr>
              <a:tr h="928688">
                <a:tc>
                  <a:txBody>
                    <a:bodyPr/>
                    <a:lstStyle/>
                    <a:p>
                      <a:r>
                        <a:rPr sz="1650" b="0">
                          <a:solidFill>
                            <a:srgbClr val="183648"/>
                          </a:solidFill>
                          <a:latin typeface="Helvetica Neue"/>
                          <a:ea typeface="Helvetica Neue"/>
                          <a:cs typeface="Helvetica Neue"/>
                        </a:rPr>
                        <a:t>1. Agree the process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Map one machine family and approve gate rules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Owners sign off on scenarios</a:t>
                      </a:r>
                    </a:p>
                  </a:txBody>
                  <a:tcPr marL="91440" marR="91440" marT="45720" marB="45720">
                    <a:solidFill>
                      <a:srgbClr val="FFFFFF"/>
                    </a:solidFill>
                  </a:tcPr>
                </a:tc>
              </a:tr>
              <a:tr h="928688">
                <a:tc>
                  <a:txBody>
                    <a:bodyPr/>
                    <a:lstStyle/>
                    <a:p>
                      <a:r>
                        <a:rPr sz="1650" b="0">
                          <a:solidFill>
                            <a:srgbClr val="183648"/>
                          </a:solidFill>
                          <a:latin typeface="Helvetica Neue"/>
                          <a:ea typeface="Helvetica Neue"/>
                          <a:cs typeface="Helvetica Neue"/>
                        </a:rPr>
                        <a:t>2. Build and pilot</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Connect events, readiness, verification and blockers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Live records reconcile with actual work</a:t>
                      </a:r>
                    </a:p>
                  </a:txBody>
                  <a:tcPr marL="91440" marR="91440" marT="45720" marB="45720">
                    <a:solidFill>
                      <a:srgbClr val="EEF3F5"/>
                    </a:solidFill>
                  </a:tcPr>
                </a:tc>
              </a:tr>
              <a:tr h="928688">
                <a:tc>
                  <a:txBody>
                    <a:bodyPr/>
                    <a:lstStyle/>
                    <a:p>
                      <a:r>
                        <a:rPr sz="1650" b="0">
                          <a:solidFill>
                            <a:srgbClr val="183648"/>
                          </a:solidFill>
                          <a:latin typeface="Helvetica Neue"/>
                          <a:ea typeface="Helvetica Neue"/>
                          <a:cs typeface="Helvetica Neue"/>
                        </a:rPr>
                        <a:t>3. Improve and expand</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Add capacity forecasts and more machine families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Pilot measures justify wider rollout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FBB5566-7D56-461E-84E2-D2A582972C04}"/>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Pilot scenarios include partial receipt, rejection, shortage, rework and late handoff.</a:t>
            </a:r>
          </a:p>
        </p:txBody>
      </p:sp>
    </p:spTree>
    <p:extLst>
      <p:ext uri="{BB962C8B-B14F-4D97-AF65-F5344CB8AC3E}">
        <p14:creationId xmlns:p14="http://schemas.microsoft.com/office/powerpoint/2010/main" val="799384807"/>
      </p:ext>
    </p:extLst>
  </p:cSld>
</p:sld>
</file>

<file path=ppt/slides/slide2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29B124-D0D0-4E50-98B9-69841FBED161}"/>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Benefits require baseline evidence</a:t>
            </a:r>
          </a:p>
        </p:txBody>
      </p:sp>
      <p:sp>
        <p:nvSpPr>
          <p:cNvPr id="2" name="">
            <a:extLst xmlns:a="http://schemas.openxmlformats.org/drawingml/2006/main">
              <a:ext uri="{FF2B5EF4-FFF2-40B4-BE49-F238E27FC236}">
                <a16:creationId xmlns:a16="http://schemas.microsoft.com/office/drawing/2014/main" id="{0807A649-26F1-4FCE-ACAB-A4D7AA215272}"/>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23</a:t>
            </a:r>
          </a:p>
        </p:txBody>
      </p:sp>
      <p:graphicFrame>
        <p:nvGraphicFramePr>
          <p:cNvPr id="7" name=""/>
          <p:cNvGraphicFramePr/>
          <p:nvPr/>
        </p:nvGraphicFramePr>
        <p:xfrm>
          <a:off xmlns:a="http://schemas.openxmlformats.org/drawingml/2006/main" x="628650" y="1762125"/>
          <a:ext xmlns:a="http://schemas.openxmlformats.org/drawingml/2006/main" cx="10934700" cy="3714750"/>
        </p:xfrm>
        <a:graphic xmlns:a="http://schemas.openxmlformats.org/drawingml/2006/main">
          <a:graphicData uri="http://schemas.openxmlformats.org/drawingml/2006/table">
            <a:tbl>
              <a:tblPr/>
              <a:tblGrid>
                <a:gridCol w="4143375"/>
                <a:gridCol w="6791325"/>
              </a:tblGrid>
              <a:tr h="742950">
                <a:tc>
                  <a:txBody>
                    <a:bodyPr/>
                    <a:lstStyle/>
                    <a:p>
                      <a:r>
                        <a:rPr sz="1725" b="1">
                          <a:solidFill>
                            <a:srgbClr val="FFFFFF"/>
                          </a:solidFill>
                          <a:latin typeface="Helvetica Neue"/>
                          <a:ea typeface="Helvetica Neue"/>
                          <a:cs typeface="Helvetica Neue"/>
                        </a:rPr>
                        <a:t>Value hypothesis</a:t>
                      </a:r>
                    </a:p>
                  </a:txBody>
                  <a:tcPr marL="91440" marR="91440" marT="45720" marB="45720">
                    <a:solidFill>
                      <a:srgbClr val="112B3C"/>
                    </a:solidFill>
                  </a:tcPr>
                </a:tc>
                <a:tc>
                  <a:txBody>
                    <a:bodyPr/>
                    <a:lstStyle/>
                    <a:p>
                      <a:r>
                        <a:rPr sz="1725" b="1">
                          <a:solidFill>
                            <a:srgbClr val="FFFFFF"/>
                          </a:solidFill>
                          <a:latin typeface="Helvetica Neue"/>
                          <a:ea typeface="Helvetica Neue"/>
                          <a:cs typeface="Helvetica Neue"/>
                        </a:rPr>
                        <a:t>How to test it</a:t>
                      </a:r>
                    </a:p>
                  </a:txBody>
                  <a:tcPr marL="91440" marR="91440" marT="45720" marB="45720">
                    <a:solidFill>
                      <a:srgbClr val="112B3C"/>
                    </a:solidFill>
                  </a:tcPr>
                </a:tc>
              </a:tr>
              <a:tr h="742950">
                <a:tc>
                  <a:txBody>
                    <a:bodyPr/>
                    <a:lstStyle/>
                    <a:p>
                      <a:r>
                        <a:rPr sz="1650" b="0">
                          <a:solidFill>
                            <a:srgbClr val="183648"/>
                          </a:solidFill>
                          <a:latin typeface="Helvetica Neue"/>
                          <a:ea typeface="Helvetica Neue"/>
                          <a:cs typeface="Helvetica Neue"/>
                        </a:rPr>
                        <a:t>Less assembly waiting</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Compare waiting hours for similar operations</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Less manual follow-up</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Measure coordination time per order</a:t>
                      </a:r>
                    </a:p>
                  </a:txBody>
                  <a:tcPr marL="91440" marR="91440" marT="45720" marB="45720">
                    <a:solidFill>
                      <a:srgbClr val="EEF3F5"/>
                    </a:solidFill>
                  </a:tcPr>
                </a:tc>
              </a:tr>
              <a:tr h="742950">
                <a:tc>
                  <a:txBody>
                    <a:bodyPr/>
                    <a:lstStyle/>
                    <a:p>
                      <a:r>
                        <a:rPr sz="1650" b="0">
                          <a:solidFill>
                            <a:srgbClr val="183648"/>
                          </a:solidFill>
                          <a:latin typeface="Helvetica Neue"/>
                          <a:ea typeface="Helvetica Neue"/>
                          <a:cs typeface="Helvetica Neue"/>
                        </a:rPr>
                        <a:t>Fewer false completions</a:t>
                      </a:r>
                    </a:p>
                  </a:txBody>
                  <a:tcPr marL="91440" marR="91440" marT="45720" marB="45720">
                    <a:solidFill>
                      <a:srgbClr val="FFFFFF"/>
                    </a:solidFill>
                  </a:tcPr>
                </a:tc>
                <a:tc>
                  <a:txBody>
                    <a:bodyPr/>
                    <a:lstStyle/>
                    <a:p>
                      <a:r>
                        <a:rPr sz="1650" b="0">
                          <a:solidFill>
                            <a:srgbClr val="183648"/>
                          </a:solidFill>
                          <a:latin typeface="Helvetica Neue"/>
                          <a:ea typeface="Helvetica Neue"/>
                          <a:cs typeface="Helvetica Neue"/>
                        </a:rPr>
                        <a:t>Review rejected and reopened handoffs</a:t>
                      </a:r>
                    </a:p>
                  </a:txBody>
                  <a:tcPr marL="91440" marR="91440" marT="45720" marB="45720">
                    <a:solidFill>
                      <a:srgbClr val="FFFFFF"/>
                    </a:solidFill>
                  </a:tcPr>
                </a:tc>
              </a:tr>
              <a:tr h="742950">
                <a:tc>
                  <a:txBody>
                    <a:bodyPr/>
                    <a:lstStyle/>
                    <a:p>
                      <a:r>
                        <a:rPr sz="1650" b="0">
                          <a:solidFill>
                            <a:srgbClr val="183648"/>
                          </a:solidFill>
                          <a:latin typeface="Helvetica Neue"/>
                          <a:ea typeface="Helvetica Neue"/>
                          <a:cs typeface="Helvetica Neue"/>
                        </a:rPr>
                        <a:t>More reliable delivery forecasts</a:t>
                      </a:r>
                    </a:p>
                  </a:txBody>
                  <a:tcPr marL="91440" marR="91440" marT="45720" marB="45720">
                    <a:solidFill>
                      <a:srgbClr val="EEF3F5"/>
                    </a:solidFill>
                  </a:tcPr>
                </a:tc>
                <a:tc>
                  <a:txBody>
                    <a:bodyPr/>
                    <a:lstStyle/>
                    <a:p>
                      <a:r>
                        <a:rPr sz="1650" b="0">
                          <a:solidFill>
                            <a:srgbClr val="183648"/>
                          </a:solidFill>
                          <a:latin typeface="Helvetica Neue"/>
                          <a:ea typeface="Helvetica Neue"/>
                          <a:cs typeface="Helvetica Neue"/>
                        </a:rPr>
                        <a:t>Compare forecast dates with actual completion</a:t>
                      </a:r>
                    </a:p>
                  </a:txBody>
                  <a:tcPr marL="91440" marR="91440" marT="45720" marB="45720">
                    <a:solidFill>
                      <a:srgbClr val="EEF3F5"/>
                    </a:solidFill>
                  </a:tcPr>
                </a:tc>
              </a:tr>
            </a:tbl>
          </a:graphicData>
        </a:graphic>
      </p:graphicFrame>
      <p:sp>
        <p:nvSpPr>
          <p:cNvPr id="4" name="">
            <a:extLst xmlns:a="http://schemas.openxmlformats.org/drawingml/2006/main">
              <a:ext uri="{FF2B5EF4-FFF2-40B4-BE49-F238E27FC236}">
                <a16:creationId xmlns:a16="http://schemas.microsoft.com/office/drawing/2014/main" id="{9376737E-1F9E-4E33-A399-54EC78ED8FA7}"/>
              </a:ext>
            </a:extLst>
          </p:cNvPr>
          <p:cNvSpPr>
            <a:spLocks xmlns:a="http://schemas.openxmlformats.org/drawingml/2006/main" noGrp="1"/>
          </p:cNvSpPr>
          <p:nvPr/>
        </p:nvSpPr>
        <p:spPr>
          <a:xfrm xmlns:a="http://schemas.openxmlformats.org/drawingml/2006/main">
            <a:off x="666750" y="57531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674"/>
                </a:solidFill>
                <a:latin typeface="Helvetica Neue"/>
                <a:ea typeface="Helvetica Neue"/>
                <a:cs typeface="Helvetica Neue"/>
              </a:defRPr>
            </a:pPr>
            <a:r>
              <a:rPr sz="1500" b="0">
                <a:solidFill>
                  <a:srgbClr val="526674"/>
                </a:solidFill>
                <a:latin typeface="Helvetica Neue"/>
                <a:ea typeface="Helvetica Neue"/>
                <a:cs typeface="Helvetica Neue"/>
              </a:rPr>
              <a:t>No savings percentage, ROI or development budget has been assumed.</a:t>
            </a:r>
          </a:p>
        </p:txBody>
      </p:sp>
    </p:spTree>
    <p:extLst>
      <p:ext uri="{BB962C8B-B14F-4D97-AF65-F5344CB8AC3E}">
        <p14:creationId xmlns:p14="http://schemas.microsoft.com/office/powerpoint/2010/main" val="153346286"/>
      </p:ext>
    </p:extLst>
  </p:cSld>
</p:sld>
</file>

<file path=ppt/slides/slide2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B3F393-4FFA-4277-9C31-C1C17DF6AB77}"/>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12B3C"/>
                </a:solidFill>
                <a:latin typeface="Helvetica Neue"/>
                <a:ea typeface="Helvetica Neue"/>
                <a:cs typeface="Helvetica Neue"/>
              </a:defRPr>
            </a:pPr>
            <a:r>
              <a:rPr sz="3225" b="1">
                <a:solidFill>
                  <a:srgbClr val="112B3C"/>
                </a:solidFill>
                <a:latin typeface="Helvetica Neue"/>
                <a:ea typeface="Helvetica Neue"/>
                <a:cs typeface="Helvetica Neue"/>
              </a:rPr>
              <a:t>Evidence and assumptions</a:t>
            </a:r>
          </a:p>
        </p:txBody>
      </p:sp>
      <p:sp>
        <p:nvSpPr>
          <p:cNvPr id="2" name="">
            <a:extLst xmlns:a="http://schemas.openxmlformats.org/drawingml/2006/main">
              <a:ext uri="{FF2B5EF4-FFF2-40B4-BE49-F238E27FC236}">
                <a16:creationId xmlns:a16="http://schemas.microsoft.com/office/drawing/2014/main" id="{07DD2848-1054-40B8-BF0C-D24B625CDD80}"/>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674"/>
                </a:solidFill>
                <a:latin typeface="Helvetica Neue"/>
                <a:ea typeface="Helvetica Neue"/>
                <a:cs typeface="Helvetica Neue"/>
              </a:defRPr>
            </a:pPr>
            <a:r>
              <a:rPr sz="1275" b="0">
                <a:solidFill>
                  <a:srgbClr val="526674"/>
                </a:solidFill>
                <a:latin typeface="Helvetica Neue"/>
                <a:ea typeface="Helvetica Neue"/>
                <a:cs typeface="Helvetica Neue"/>
              </a:rPr>
              <a:t>24</a:t>
            </a:r>
          </a:p>
        </p:txBody>
      </p:sp>
      <p:sp>
        <p:nvSpPr>
          <p:cNvPr id="3" name="">
            <a:extLst xmlns:a="http://schemas.openxmlformats.org/drawingml/2006/main">
              <a:ext uri="{FF2B5EF4-FFF2-40B4-BE49-F238E27FC236}">
                <a16:creationId xmlns:a16="http://schemas.microsoft.com/office/drawing/2014/main" id="{A52AA27B-0361-4C42-A18F-76E8BCB9A16E}"/>
              </a:ext>
            </a:extLst>
          </p:cNvPr>
          <p:cNvSpPr>
            <a:spLocks xmlns:a="http://schemas.openxmlformats.org/drawingml/2006/main" noGrp="1"/>
          </p:cNvSpPr>
          <p:nvPr/>
        </p:nvSpPr>
        <p:spPr>
          <a:xfrm xmlns:a="http://schemas.openxmlformats.org/drawingml/2006/main">
            <a:off x="666750" y="1752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Known from operations</a:t>
            </a:r>
          </a:p>
        </p:txBody>
      </p:sp>
      <p:sp>
        <p:nvSpPr>
          <p:cNvPr id="4" name="">
            <a:extLst xmlns:a="http://schemas.openxmlformats.org/drawingml/2006/main">
              <a:ext uri="{FF2B5EF4-FFF2-40B4-BE49-F238E27FC236}">
                <a16:creationId xmlns:a16="http://schemas.microsoft.com/office/drawing/2014/main" id="{CF0E1BCB-ACD2-4F53-83FD-518D6F6D8247}"/>
              </a:ext>
            </a:extLst>
          </p:cNvPr>
          <p:cNvSpPr>
            <a:spLocks xmlns:a="http://schemas.openxmlformats.org/drawingml/2006/main" noGrp="1"/>
          </p:cNvSpPr>
          <p:nvPr/>
        </p:nvSpPr>
        <p:spPr>
          <a:xfrm xmlns:a="http://schemas.openxmlformats.org/drawingml/2006/main">
            <a:off x="4019550" y="1752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The PMS owner reports independent department work and uncertain completion.</a:t>
            </a:r>
          </a:p>
        </p:txBody>
      </p:sp>
      <p:sp>
        <p:nvSpPr>
          <p:cNvPr id="5" name="">
            <a:extLst xmlns:a="http://schemas.openxmlformats.org/drawingml/2006/main">
              <a:ext uri="{FF2B5EF4-FFF2-40B4-BE49-F238E27FC236}">
                <a16:creationId xmlns:a16="http://schemas.microsoft.com/office/drawing/2014/main" id="{A074175F-0D6E-482C-97BC-9C5553626AB2}"/>
              </a:ext>
            </a:extLst>
          </p:cNvPr>
          <p:cNvSpPr>
            <a:spLocks xmlns:a="http://schemas.openxmlformats.org/drawingml/2006/main" noGrp="1"/>
          </p:cNvSpPr>
          <p:nvPr/>
        </p:nvSpPr>
        <p:spPr>
          <a:xfrm xmlns:a="http://schemas.openxmlformats.org/drawingml/2006/main">
            <a:off x="666750" y="30861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Observed in code</a:t>
            </a:r>
          </a:p>
        </p:txBody>
      </p:sp>
      <p:sp>
        <p:nvSpPr>
          <p:cNvPr id="6" name="">
            <a:extLst xmlns:a="http://schemas.openxmlformats.org/drawingml/2006/main">
              <a:ext uri="{FF2B5EF4-FFF2-40B4-BE49-F238E27FC236}">
                <a16:creationId xmlns:a16="http://schemas.microsoft.com/office/drawing/2014/main" id="{A74C9560-B061-4FDB-9505-56605826A25C}"/>
              </a:ext>
            </a:extLst>
          </p:cNvPr>
          <p:cNvSpPr>
            <a:spLocks xmlns:a="http://schemas.openxmlformats.org/drawingml/2006/main" noGrp="1"/>
          </p:cNvSpPr>
          <p:nvPr/>
        </p:nvSpPr>
        <p:spPr>
          <a:xfrm xmlns:a="http://schemas.openxmlformats.org/drawingml/2006/main">
            <a:off x="4019550" y="30861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Scheduling, completion history and assembly progress elements exist. Live coverage needs confirmation.</a:t>
            </a:r>
          </a:p>
        </p:txBody>
      </p:sp>
      <p:sp>
        <p:nvSpPr>
          <p:cNvPr id="7" name="">
            <a:extLst xmlns:a="http://schemas.openxmlformats.org/drawingml/2006/main">
              <a:ext uri="{FF2B5EF4-FFF2-40B4-BE49-F238E27FC236}">
                <a16:creationId xmlns:a16="http://schemas.microsoft.com/office/drawing/2014/main" id="{EA9527F8-96CE-4959-A2A5-C0F3C08F627A}"/>
              </a:ext>
            </a:extLst>
          </p:cNvPr>
          <p:cNvSpPr>
            <a:spLocks xmlns:a="http://schemas.openxmlformats.org/drawingml/2006/main" noGrp="1"/>
          </p:cNvSpPr>
          <p:nvPr/>
        </p:nvSpPr>
        <p:spPr>
          <a:xfrm xmlns:a="http://schemas.openxmlformats.org/drawingml/2006/main">
            <a:off x="666750" y="44196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Proposed and unmeasured</a:t>
            </a:r>
          </a:p>
        </p:txBody>
      </p:sp>
      <p:sp>
        <p:nvSpPr>
          <p:cNvPr id="8" name="">
            <a:extLst xmlns:a="http://schemas.openxmlformats.org/drawingml/2006/main">
              <a:ext uri="{FF2B5EF4-FFF2-40B4-BE49-F238E27FC236}">
                <a16:creationId xmlns:a16="http://schemas.microsoft.com/office/drawing/2014/main" id="{42F3611F-5981-4B76-B091-DF399F85F295}"/>
              </a:ext>
            </a:extLst>
          </p:cNvPr>
          <p:cNvSpPr>
            <a:spLocks xmlns:a="http://schemas.openxmlformats.org/drawingml/2006/main" noGrp="1"/>
          </p:cNvSpPr>
          <p:nvPr/>
        </p:nvSpPr>
        <p:spPr>
          <a:xfrm xmlns:a="http://schemas.openxmlformats.org/drawingml/2006/main">
            <a:off x="4019550" y="4419600"/>
            <a:ext cx="7477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648"/>
                </a:solidFill>
                <a:latin typeface="Helvetica Neue"/>
                <a:ea typeface="Helvetica Neue"/>
                <a:cs typeface="Helvetica Neue"/>
              </a:defRPr>
            </a:pPr>
            <a:r>
              <a:rPr sz="2025" b="0">
                <a:solidFill>
                  <a:srgbClr val="183648"/>
                </a:solidFill>
                <a:latin typeface="Helvetica Neue"/>
                <a:ea typeface="Helvetica Neue"/>
                <a:cs typeface="Helvetica Neue"/>
              </a:rPr>
              <a:t>Workflow rules, role assignments and pilot metrics need validation with department owners.</a:t>
            </a:r>
          </a:p>
        </p:txBody>
      </p:sp>
      <p:sp>
        <p:nvSpPr>
          <p:cNvPr id="9" name="">
            <a:extLst xmlns:a="http://schemas.openxmlformats.org/drawingml/2006/main">
              <a:ext uri="{FF2B5EF4-FFF2-40B4-BE49-F238E27FC236}">
                <a16:creationId xmlns:a16="http://schemas.microsoft.com/office/drawing/2014/main" id="{5A47AAAA-42EA-42D7-87B2-737F7F00EE9A}"/>
              </a:ext>
            </a:extLst>
          </p:cNvPr>
          <p:cNvSpPr>
            <a:spLocks xmlns:a="http://schemas.openxmlformats.org/drawingml/2006/main" noGrp="1"/>
          </p:cNvSpPr>
          <p:nvPr/>
        </p:nvSpPr>
        <p:spPr>
          <a:xfrm xmlns:a="http://schemas.openxmlformats.org/drawingml/2006/main">
            <a:off x="666750" y="59055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674"/>
                </a:solidFill>
                <a:latin typeface="Helvetica Neue"/>
                <a:ea typeface="Helvetica Neue"/>
                <a:cs typeface="Helvetica Neue"/>
              </a:defRPr>
            </a:pPr>
            <a:r>
              <a:rPr sz="1350" b="0">
                <a:solidFill>
                  <a:srgbClr val="526674"/>
                </a:solidFill>
                <a:latin typeface="Helvetica Neue"/>
                <a:ea typeface="Helvetica Neue"/>
                <a:cs typeface="Helvetica Neue"/>
              </a:rPr>
              <a:t>Reference: PMI Practice Standard for Scheduling. Full source details are in notes.</a:t>
            </a:r>
          </a:p>
        </p:txBody>
      </p:sp>
    </p:spTree>
    <p:extLst>
      <p:ext uri="{BB962C8B-B14F-4D97-AF65-F5344CB8AC3E}">
        <p14:creationId xmlns:p14="http://schemas.microsoft.com/office/powerpoint/2010/main" val="822907950"/>
      </p:ext>
    </p:extLst>
  </p:cSld>
</p:sld>
</file>

<file path=ppt/slides/slide25.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B6C9A3-6DD3-4C64-B7ED-F54D9A242B7E}"/>
              </a:ext>
            </a:extLst>
          </p:cNvPr>
          <p:cNvSpPr>
            <a:spLocks xmlns:a="http://schemas.openxmlformats.org/drawingml/2006/main" noGrp="1"/>
          </p:cNvSpPr>
          <p:nvPr/>
        </p:nvSpPr>
        <p:spPr>
          <a:xfrm xmlns:a="http://schemas.openxmlformats.org/drawingml/2006/main">
            <a:off x="628650" y="495300"/>
            <a:ext cx="10934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Approval requested</a:t>
            </a:r>
          </a:p>
        </p:txBody>
      </p:sp>
      <p:sp>
        <p:nvSpPr>
          <p:cNvPr id="2" name="">
            <a:extLst xmlns:a="http://schemas.openxmlformats.org/drawingml/2006/main">
              <a:ext uri="{FF2B5EF4-FFF2-40B4-BE49-F238E27FC236}">
                <a16:creationId xmlns:a16="http://schemas.microsoft.com/office/drawing/2014/main" id="{B9012DF0-3516-436D-B4A5-AEE8655CC08A}"/>
              </a:ext>
            </a:extLst>
          </p:cNvPr>
          <p:cNvSpPr>
            <a:spLocks xmlns:a="http://schemas.openxmlformats.org/drawingml/2006/main" noGrp="1"/>
          </p:cNvSpPr>
          <p:nvPr/>
        </p:nvSpPr>
        <p:spPr>
          <a:xfrm xmlns:a="http://schemas.openxmlformats.org/drawingml/2006/main">
            <a:off x="10953750" y="6286500"/>
            <a:ext cx="619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AFC5CF"/>
                </a:solidFill>
                <a:latin typeface="Helvetica Neue"/>
                <a:ea typeface="Helvetica Neue"/>
                <a:cs typeface="Helvetica Neue"/>
              </a:defRPr>
            </a:pPr>
            <a:r>
              <a:rPr sz="1275" b="0">
                <a:solidFill>
                  <a:srgbClr val="AFC5CF"/>
                </a:solidFill>
                <a:latin typeface="Helvetica Neue"/>
                <a:ea typeface="Helvetica Neue"/>
                <a:cs typeface="Helvetica Neue"/>
              </a:rPr>
              <a:t>25</a:t>
            </a:r>
          </a:p>
        </p:txBody>
      </p:sp>
      <p:sp>
        <p:nvSpPr>
          <p:cNvPr id="3" name="">
            <a:extLst xmlns:a="http://schemas.openxmlformats.org/drawingml/2006/main">
              <a:ext uri="{FF2B5EF4-FFF2-40B4-BE49-F238E27FC236}">
                <a16:creationId xmlns:a16="http://schemas.microsoft.com/office/drawing/2014/main" id="{6B2331DA-EA9E-4C46-8812-F54AC48509B0}"/>
              </a:ext>
            </a:extLst>
          </p:cNvPr>
          <p:cNvSpPr>
            <a:spLocks xmlns:a="http://schemas.openxmlformats.org/drawingml/2006/main" noGrp="1"/>
          </p:cNvSpPr>
          <p:nvPr/>
        </p:nvSpPr>
        <p:spPr>
          <a:xfrm xmlns:a="http://schemas.openxmlformats.org/drawingml/2006/main">
            <a:off x="666750" y="1809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 bounded pilot for one machine family</a:t>
            </a:r>
          </a:p>
        </p:txBody>
      </p:sp>
      <p:sp>
        <p:nvSpPr>
          <p:cNvPr id="4" name="">
            <a:extLst xmlns:a="http://schemas.openxmlformats.org/drawingml/2006/main">
              <a:ext uri="{FF2B5EF4-FFF2-40B4-BE49-F238E27FC236}">
                <a16:creationId xmlns:a16="http://schemas.microsoft.com/office/drawing/2014/main" id="{ADD3FF65-F1DD-4AC0-9D44-11865CD64B49}"/>
              </a:ext>
            </a:extLst>
          </p:cNvPr>
          <p:cNvSpPr>
            <a:spLocks xmlns:a="http://schemas.openxmlformats.org/drawingml/2006/main" noGrp="1"/>
          </p:cNvSpPr>
          <p:nvPr/>
        </p:nvSpPr>
        <p:spPr>
          <a:xfrm xmlns:a="http://schemas.openxmlformats.org/drawingml/2006/main">
            <a:off x="666750" y="28575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1E1E8"/>
                </a:solidFill>
                <a:latin typeface="Helvetica Neue"/>
                <a:ea typeface="Helvetica Neue"/>
                <a:cs typeface="Helvetica Neue"/>
              </a:defRPr>
            </a:pPr>
            <a:r>
              <a:rPr sz="2250" b="0">
                <a:solidFill>
                  <a:srgbClr val="D1E1E8"/>
                </a:solidFill>
                <a:latin typeface="Helvetica Neue"/>
                <a:ea typeface="Helvetica Neue"/>
                <a:cs typeface="Helvetica Neue"/>
              </a:rPr>
              <a:t>Management sponsor and department owners</a:t>
            </a:r>
          </a:p>
          <a:p xmlns:a="http://schemas.openxmlformats.org/drawingml/2006/main">
            <a:pPr>
              <a:defRPr sz="2250" b="0">
                <a:solidFill>
                  <a:srgbClr val="D1E1E8"/>
                </a:solidFill>
                <a:latin typeface="Helvetica Neue"/>
                <a:ea typeface="Helvetica Neue"/>
                <a:cs typeface="Helvetica Neue"/>
              </a:defRPr>
            </a:pPr>
            <a:r>
              <a:rPr sz="2250" b="0">
                <a:solidFill>
                  <a:srgbClr val="D1E1E8"/>
                </a:solidFill>
                <a:latin typeface="Helvetica Neue"/>
                <a:ea typeface="Helvetica Neue"/>
                <a:cs typeface="Helvetica Neue"/>
              </a:rPr>
              <a:t>Agreed readiness and completion rules</a:t>
            </a:r>
          </a:p>
          <a:p xmlns:a="http://schemas.openxmlformats.org/drawingml/2006/main">
            <a:pPr>
              <a:defRPr sz="2250" b="0">
                <a:solidFill>
                  <a:srgbClr val="D1E1E8"/>
                </a:solidFill>
                <a:latin typeface="Helvetica Neue"/>
                <a:ea typeface="Helvetica Neue"/>
                <a:cs typeface="Helvetica Neue"/>
              </a:defRPr>
            </a:pPr>
            <a:r>
              <a:rPr sz="2250" b="0">
                <a:solidFill>
                  <a:srgbClr val="D1E1E8"/>
                </a:solidFill>
                <a:latin typeface="Helvetica Neue"/>
                <a:ea typeface="Helvetica Neue"/>
                <a:cs typeface="Helvetica Neue"/>
              </a:rPr>
              <a:t>Discovery to confirm effort, cost and delivery plan</a:t>
            </a:r>
          </a:p>
          <a:p xmlns:a="http://schemas.openxmlformats.org/drawingml/2006/main">
            <a:pPr>
              <a:defRPr sz="2250" b="0">
                <a:solidFill>
                  <a:srgbClr val="D1E1E8"/>
                </a:solidFill>
                <a:latin typeface="Helvetica Neue"/>
                <a:ea typeface="Helvetica Neue"/>
                <a:cs typeface="Helvetica Neue"/>
              </a:defRPr>
            </a:pPr>
            <a:r>
              <a:rPr sz="2250" b="0">
                <a:solidFill>
                  <a:srgbClr val="D1E1E8"/>
                </a:solidFill>
                <a:latin typeface="Helvetica Neue"/>
                <a:ea typeface="Helvetica Neue"/>
                <a:cs typeface="Helvetica Neue"/>
              </a:rPr>
              <a:t>Pilot review before wider rollout</a:t>
            </a:r>
          </a:p>
        </p:txBody>
      </p:sp>
      <p:sp>
        <p:nvSpPr>
          <p:cNvPr id="5" name="">
            <a:extLst xmlns:a="http://schemas.openxmlformats.org/drawingml/2006/main">
              <a:ext uri="{FF2B5EF4-FFF2-40B4-BE49-F238E27FC236}">
                <a16:creationId xmlns:a16="http://schemas.microsoft.com/office/drawing/2014/main" id="{D0D3897E-C4EE-4BF0-9DCC-D4A99FFBC9A3}"/>
              </a:ext>
            </a:extLst>
          </p:cNvPr>
          <p:cNvSpPr>
            <a:spLocks xmlns:a="http://schemas.openxmlformats.org/drawingml/2006/main" noGrp="1"/>
          </p:cNvSpPr>
          <p:nvPr/>
        </p:nvSpPr>
        <p:spPr>
          <a:xfrm xmlns:a="http://schemas.openxmlformats.org/drawingml/2006/main">
            <a:off x="666750" y="56578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Success means reliable handoffs and a credible delivery forecast.</a:t>
            </a:r>
          </a:p>
        </p:txBody>
      </p:sp>
    </p:spTree>
    <p:extLst>
      <p:ext uri="{BB962C8B-B14F-4D97-AF65-F5344CB8AC3E}">
        <p14:creationId xmlns:p14="http://schemas.microsoft.com/office/powerpoint/2010/main" val="3423391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2026-09-09T15:05:17.9560000Z</dcterms:created>
  <dcterms:modified xsi:type="dcterms:W3CDTF">2026-09-09T15:05:17.9560000Z</dcterms:modified>
</coreProperties>
</file>